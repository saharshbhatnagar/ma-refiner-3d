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6858000" cx="12192000"/>
  <p:notesSz cx="6858000" cy="9144000"/>
  <p:embeddedFontLst>
    <p:embeddedFont>
      <p:font typeface="Inter SemiBold"/>
      <p:regular r:id="rId38"/>
      <p:bold r:id="rId39"/>
      <p:italic r:id="rId40"/>
      <p:boldItalic r:id="rId41"/>
    </p:embeddedFont>
    <p:embeddedFont>
      <p:font typeface="Poppins"/>
      <p:regular r:id="rId42"/>
      <p:bold r:id="rId43"/>
      <p:italic r:id="rId44"/>
      <p:boldItalic r:id="rId45"/>
    </p:embeddedFont>
    <p:embeddedFont>
      <p:font typeface="Inter"/>
      <p:regular r:id="rId46"/>
      <p:bold r:id="rId47"/>
      <p:italic r:id="rId48"/>
      <p:boldItalic r:id="rId49"/>
    </p:embeddedFont>
    <p:embeddedFont>
      <p:font typeface="Poppins Medium"/>
      <p:regular r:id="rId50"/>
      <p:bold r:id="rId51"/>
      <p:italic r:id="rId52"/>
      <p:boldItalic r:id="rId53"/>
    </p:embeddedFont>
    <p:embeddedFont>
      <p:font typeface="Poppins SemiBold"/>
      <p:regular r:id="rId54"/>
      <p:bold r:id="rId55"/>
      <p:italic r:id="rId56"/>
      <p:boldItalic r:id="rId57"/>
    </p:embeddedFont>
    <p:embeddedFont>
      <p:font typeface="Inter Medium"/>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74426D4-E76B-4AAF-A0B1-2A0D733164C0}">
  <a:tblStyle styleId="{F74426D4-E76B-4AAF-A0B1-2A0D733164C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SemiBold-italic.fntdata"/><Relationship Id="rId42" Type="http://schemas.openxmlformats.org/officeDocument/2006/relationships/font" Target="fonts/Poppins-regular.fntdata"/><Relationship Id="rId41" Type="http://schemas.openxmlformats.org/officeDocument/2006/relationships/font" Target="fonts/InterSemiBold-boldItalic.fntdata"/><Relationship Id="rId44" Type="http://schemas.openxmlformats.org/officeDocument/2006/relationships/font" Target="fonts/Poppins-italic.fntdata"/><Relationship Id="rId43" Type="http://schemas.openxmlformats.org/officeDocument/2006/relationships/font" Target="fonts/Poppins-bold.fntdata"/><Relationship Id="rId46" Type="http://schemas.openxmlformats.org/officeDocument/2006/relationships/font" Target="fonts/Inter-regular.fntdata"/><Relationship Id="rId45" Type="http://schemas.openxmlformats.org/officeDocument/2006/relationships/font" Target="fonts/Poppi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Inter-italic.fntdata"/><Relationship Id="rId47" Type="http://schemas.openxmlformats.org/officeDocument/2006/relationships/font" Target="fonts/Inter-bold.fntdata"/><Relationship Id="rId49" Type="http://schemas.openxmlformats.org/officeDocument/2006/relationships/font" Target="fonts/Inter-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InterSemiBold-bold.fntdata"/><Relationship Id="rId38" Type="http://schemas.openxmlformats.org/officeDocument/2006/relationships/font" Target="fonts/InterSemiBold-regular.fntdata"/><Relationship Id="rId61" Type="http://schemas.openxmlformats.org/officeDocument/2006/relationships/font" Target="fonts/InterMedium-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InterMedium-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oppinsMedium-bold.fntdata"/><Relationship Id="rId50" Type="http://schemas.openxmlformats.org/officeDocument/2006/relationships/font" Target="fonts/PoppinsMedium-regular.fntdata"/><Relationship Id="rId53" Type="http://schemas.openxmlformats.org/officeDocument/2006/relationships/font" Target="fonts/PoppinsMedium-boldItalic.fntdata"/><Relationship Id="rId52" Type="http://schemas.openxmlformats.org/officeDocument/2006/relationships/font" Target="fonts/PoppinsMedium-italic.fntdata"/><Relationship Id="rId11" Type="http://schemas.openxmlformats.org/officeDocument/2006/relationships/slide" Target="slides/slide5.xml"/><Relationship Id="rId55" Type="http://schemas.openxmlformats.org/officeDocument/2006/relationships/font" Target="fonts/PoppinsSemiBold-bold.fntdata"/><Relationship Id="rId10" Type="http://schemas.openxmlformats.org/officeDocument/2006/relationships/slide" Target="slides/slide4.xml"/><Relationship Id="rId54" Type="http://schemas.openxmlformats.org/officeDocument/2006/relationships/font" Target="fonts/PoppinsSemiBold-regular.fntdata"/><Relationship Id="rId13" Type="http://schemas.openxmlformats.org/officeDocument/2006/relationships/slide" Target="slides/slide7.xml"/><Relationship Id="rId57" Type="http://schemas.openxmlformats.org/officeDocument/2006/relationships/font" Target="fonts/PoppinsSemiBold-boldItalic.fntdata"/><Relationship Id="rId12" Type="http://schemas.openxmlformats.org/officeDocument/2006/relationships/slide" Target="slides/slide6.xml"/><Relationship Id="rId56" Type="http://schemas.openxmlformats.org/officeDocument/2006/relationships/font" Target="fonts/PoppinsSemiBold-italic.fntdata"/><Relationship Id="rId15" Type="http://schemas.openxmlformats.org/officeDocument/2006/relationships/slide" Target="slides/slide9.xml"/><Relationship Id="rId59" Type="http://schemas.openxmlformats.org/officeDocument/2006/relationships/font" Target="fonts/InterMedium-bold.fntdata"/><Relationship Id="rId14" Type="http://schemas.openxmlformats.org/officeDocument/2006/relationships/slide" Target="slides/slide8.xml"/><Relationship Id="rId58" Type="http://schemas.openxmlformats.org/officeDocument/2006/relationships/font" Target="fonts/InterMedium-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SaharshBhatnagar/MA-Refiner-3D"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8.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8.png"/><Relationship Id="rId6"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23.png"/><Relationship Id="rId6"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23.png"/><Relationship Id="rId5" Type="http://schemas.openxmlformats.org/officeDocument/2006/relationships/image" Target="../media/image1.png"/><Relationship Id="rId6"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24.png"/><Relationship Id="rId11" Type="http://schemas.openxmlformats.org/officeDocument/2006/relationships/image" Target="../media/image19.png"/><Relationship Id="rId10" Type="http://schemas.openxmlformats.org/officeDocument/2006/relationships/image" Target="../media/image22.png"/><Relationship Id="rId9" Type="http://schemas.openxmlformats.org/officeDocument/2006/relationships/image" Target="../media/image20.png"/><Relationship Id="rId5" Type="http://schemas.openxmlformats.org/officeDocument/2006/relationships/image" Target="../media/image14.png"/><Relationship Id="rId6" Type="http://schemas.openxmlformats.org/officeDocument/2006/relationships/image" Target="../media/image18.png"/><Relationship Id="rId7" Type="http://schemas.openxmlformats.org/officeDocument/2006/relationships/image" Target="../media/image30.png"/><Relationship Id="rId8"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4.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52.png"/><Relationship Id="rId9" Type="http://schemas.openxmlformats.org/officeDocument/2006/relationships/image" Target="../media/image56.png"/><Relationship Id="rId5" Type="http://schemas.openxmlformats.org/officeDocument/2006/relationships/image" Target="../media/image36.png"/><Relationship Id="rId6" Type="http://schemas.openxmlformats.org/officeDocument/2006/relationships/image" Target="../media/image32.png"/><Relationship Id="rId7" Type="http://schemas.openxmlformats.org/officeDocument/2006/relationships/image" Target="../media/image40.png"/><Relationship Id="rId8" Type="http://schemas.openxmlformats.org/officeDocument/2006/relationships/image" Target="../media/image4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5.png"/><Relationship Id="rId4" Type="http://schemas.openxmlformats.org/officeDocument/2006/relationships/image" Target="../media/image25.png"/><Relationship Id="rId5" Type="http://schemas.openxmlformats.org/officeDocument/2006/relationships/image" Target="../media/image55.png"/><Relationship Id="rId6"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7.png"/><Relationship Id="rId4" Type="http://schemas.openxmlformats.org/officeDocument/2006/relationships/image" Target="../media/image46.png"/><Relationship Id="rId5" Type="http://schemas.openxmlformats.org/officeDocument/2006/relationships/image" Target="../media/image42.png"/><Relationship Id="rId6" Type="http://schemas.openxmlformats.org/officeDocument/2006/relationships/image" Target="../media/image53.png"/><Relationship Id="rId7" Type="http://schemas.openxmlformats.org/officeDocument/2006/relationships/image" Target="../media/image4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9.png"/><Relationship Id="rId4" Type="http://schemas.openxmlformats.org/officeDocument/2006/relationships/image" Target="../media/image54.png"/><Relationship Id="rId5" Type="http://schemas.openxmlformats.org/officeDocument/2006/relationships/image" Target="../media/image5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8.png"/><Relationship Id="rId4" Type="http://schemas.openxmlformats.org/officeDocument/2006/relationships/image" Target="../media/image48.png"/><Relationship Id="rId11" Type="http://schemas.openxmlformats.org/officeDocument/2006/relationships/image" Target="../media/image50.png"/><Relationship Id="rId10" Type="http://schemas.openxmlformats.org/officeDocument/2006/relationships/image" Target="../media/image59.png"/><Relationship Id="rId9" Type="http://schemas.openxmlformats.org/officeDocument/2006/relationships/image" Target="../media/image44.png"/><Relationship Id="rId5" Type="http://schemas.openxmlformats.org/officeDocument/2006/relationships/image" Target="../media/image41.png"/><Relationship Id="rId6" Type="http://schemas.openxmlformats.org/officeDocument/2006/relationships/image" Target="../media/image18.png"/><Relationship Id="rId7" Type="http://schemas.openxmlformats.org/officeDocument/2006/relationships/image" Target="../media/image30.png"/><Relationship Id="rId8"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hyperlink" Target="https://github.com/SaharshBhatnagar/MA-Refiner-3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13"/>
          <p:cNvSpPr txBox="1"/>
          <p:nvPr/>
        </p:nvSpPr>
        <p:spPr>
          <a:xfrm>
            <a:off x="1480423" y="1776412"/>
            <a:ext cx="9231153" cy="73149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020617"/>
                </a:solidFill>
                <a:latin typeface="Poppins"/>
                <a:ea typeface="Poppins"/>
                <a:cs typeface="Poppins"/>
                <a:sym typeface="Poppins"/>
              </a:rPr>
              <a:t>Multi-Head Attention Refiner</a:t>
            </a:r>
            <a:endParaRPr/>
          </a:p>
        </p:txBody>
      </p:sp>
      <p:sp>
        <p:nvSpPr>
          <p:cNvPr id="85" name="Google Shape;85;p13"/>
          <p:cNvSpPr txBox="1"/>
          <p:nvPr/>
        </p:nvSpPr>
        <p:spPr>
          <a:xfrm>
            <a:off x="4271962" y="2698402"/>
            <a:ext cx="364807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64748B"/>
                </a:solidFill>
                <a:latin typeface="Inter"/>
                <a:ea typeface="Inter"/>
                <a:cs typeface="Inter"/>
                <a:sym typeface="Inter"/>
              </a:rPr>
              <a:t>For Multi-View 3D Reconstruction</a:t>
            </a:r>
            <a:endParaRPr/>
          </a:p>
        </p:txBody>
      </p:sp>
      <p:sp>
        <p:nvSpPr>
          <p:cNvPr id="86" name="Google Shape;86;p13"/>
          <p:cNvSpPr/>
          <p:nvPr/>
        </p:nvSpPr>
        <p:spPr>
          <a:xfrm>
            <a:off x="5457825" y="3492698"/>
            <a:ext cx="381000" cy="57150"/>
          </a:xfrm>
          <a:prstGeom prst="roundRect">
            <a:avLst>
              <a:gd fmla="val 50000" name="adj"/>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p:nvPr/>
        </p:nvSpPr>
        <p:spPr>
          <a:xfrm>
            <a:off x="5915025" y="3492698"/>
            <a:ext cx="381000" cy="5715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p:nvPr/>
        </p:nvSpPr>
        <p:spPr>
          <a:xfrm>
            <a:off x="6372225" y="3492698"/>
            <a:ext cx="190500" cy="57150"/>
          </a:xfrm>
          <a:prstGeom prst="roundRect">
            <a:avLst>
              <a:gd fmla="val 50000" name="adj"/>
            </a:avLst>
          </a:prstGeom>
          <a:solidFill>
            <a:srgbClr val="EAB3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 name="Google Shape;89;p13"/>
          <p:cNvSpPr/>
          <p:nvPr/>
        </p:nvSpPr>
        <p:spPr>
          <a:xfrm>
            <a:off x="6638925" y="3492698"/>
            <a:ext cx="95250" cy="57150"/>
          </a:xfrm>
          <a:prstGeom prst="roundRect">
            <a:avLst>
              <a:gd fmla="val 50000" name="adj"/>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 name="Google Shape;90;p13"/>
          <p:cNvSpPr txBox="1"/>
          <p:nvPr/>
        </p:nvSpPr>
        <p:spPr>
          <a:xfrm>
            <a:off x="3948112" y="4216598"/>
            <a:ext cx="4295700" cy="231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020617"/>
                </a:solidFill>
                <a:latin typeface="Inter SemiBold"/>
                <a:ea typeface="Inter SemiBold"/>
                <a:cs typeface="Inter SemiBold"/>
                <a:sym typeface="Inter SemiBold"/>
              </a:rPr>
              <a:t>Presenter: </a:t>
            </a:r>
            <a:r>
              <a:rPr lang="en-US" sz="1500">
                <a:solidFill>
                  <a:srgbClr val="020617"/>
                </a:solidFill>
                <a:latin typeface="Inter SemiBold"/>
                <a:ea typeface="Inter SemiBold"/>
                <a:cs typeface="Inter SemiBold"/>
                <a:sym typeface="Inter SemiBold"/>
              </a:rPr>
              <a:t>SAHARSH BHATNAGAR</a:t>
            </a:r>
            <a:endParaRPr/>
          </a:p>
        </p:txBody>
      </p:sp>
      <p:sp>
        <p:nvSpPr>
          <p:cNvPr id="91" name="Google Shape;91;p13"/>
          <p:cNvSpPr txBox="1"/>
          <p:nvPr/>
        </p:nvSpPr>
        <p:spPr>
          <a:xfrm>
            <a:off x="3404325" y="5026100"/>
            <a:ext cx="5402400" cy="207900"/>
          </a:xfrm>
          <a:prstGeom prst="rect">
            <a:avLst/>
          </a:prstGeom>
          <a:noFill/>
          <a:ln>
            <a:noFill/>
          </a:ln>
        </p:spPr>
        <p:txBody>
          <a:bodyPr anchorCtr="0" anchor="t" bIns="0" lIns="161925" spcFirstLastPara="1" rIns="0" wrap="square" tIns="0">
            <a:spAutoFit/>
          </a:bodyPr>
          <a:lstStyle/>
          <a:p>
            <a:pPr indent="0" lvl="0" marL="0" marR="0" rtl="0" algn="ctr">
              <a:lnSpc>
                <a:spcPct val="160000"/>
              </a:lnSpc>
              <a:spcBef>
                <a:spcPts val="0"/>
              </a:spcBef>
              <a:spcAft>
                <a:spcPts val="0"/>
              </a:spcAft>
              <a:buNone/>
            </a:pPr>
            <a:r>
              <a:rPr lang="en-US" sz="1350" u="sng">
                <a:solidFill>
                  <a:schemeClr val="hlink"/>
                </a:solidFill>
                <a:latin typeface="Inter"/>
                <a:ea typeface="Inter"/>
                <a:cs typeface="Inter"/>
                <a:sym typeface="Inter"/>
                <a:hlinkClick r:id="rId3"/>
              </a:rPr>
              <a:t>github.com/SaharshBhatnagar/MA-Refiner-3D</a:t>
            </a:r>
            <a:endParaRPr/>
          </a:p>
        </p:txBody>
      </p:sp>
      <p:sp>
        <p:nvSpPr>
          <p:cNvPr id="92" name="Google Shape;92;p13"/>
          <p:cNvSpPr txBox="1"/>
          <p:nvPr/>
        </p:nvSpPr>
        <p:spPr>
          <a:xfrm>
            <a:off x="3813400" y="4534650"/>
            <a:ext cx="4728300" cy="23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500">
                <a:solidFill>
                  <a:schemeClr val="dk1"/>
                </a:solidFill>
                <a:latin typeface="Calibri"/>
                <a:ea typeface="Calibri"/>
                <a:cs typeface="Calibri"/>
                <a:sym typeface="Calibri"/>
              </a:rPr>
              <a:t>Enrolment: E23CSEU1737</a:t>
            </a:r>
            <a:endParaRPr b="1" sz="1500">
              <a:solidFill>
                <a:schemeClr val="dk1"/>
              </a:solidFill>
              <a:latin typeface="Calibri"/>
              <a:ea typeface="Calibri"/>
              <a:cs typeface="Calibri"/>
              <a:sym typeface="Calibri"/>
            </a:endParaRPr>
          </a:p>
        </p:txBody>
      </p:sp>
      <p:pic>
        <p:nvPicPr>
          <p:cNvPr descr="image.png" id="93" name="Google Shape;93;p13"/>
          <p:cNvPicPr preferRelativeResize="0"/>
          <p:nvPr/>
        </p:nvPicPr>
        <p:blipFill rotWithShape="1">
          <a:blip r:embed="rId4">
            <a:alphaModFix/>
          </a:blip>
          <a:srcRect b="0" l="0" r="0" t="0"/>
          <a:stretch/>
        </p:blipFill>
        <p:spPr>
          <a:xfrm>
            <a:off x="3948112" y="5043492"/>
            <a:ext cx="180975" cy="190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14"/>
          <p:cNvSpPr txBox="1"/>
          <p:nvPr/>
        </p:nvSpPr>
        <p:spPr>
          <a:xfrm>
            <a:off x="3305651" y="2384077"/>
            <a:ext cx="5580697" cy="8096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4200" u="none" cap="none" strike="noStrike">
                <a:solidFill>
                  <a:srgbClr val="020617"/>
                </a:solidFill>
                <a:latin typeface="Poppins SemiBold"/>
                <a:ea typeface="Poppins SemiBold"/>
                <a:cs typeface="Poppins SemiBold"/>
                <a:sym typeface="Poppins SemiBold"/>
              </a:rPr>
              <a:t>Problem Statement</a:t>
            </a:r>
            <a:endParaRPr/>
          </a:p>
        </p:txBody>
      </p:sp>
      <p:sp>
        <p:nvSpPr>
          <p:cNvPr id="99" name="Google Shape;99;p14"/>
          <p:cNvSpPr txBox="1"/>
          <p:nvPr/>
        </p:nvSpPr>
        <p:spPr>
          <a:xfrm>
            <a:off x="3681412" y="3336577"/>
            <a:ext cx="482917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64748B"/>
                </a:solidFill>
                <a:latin typeface="Inter"/>
                <a:ea typeface="Inter"/>
                <a:cs typeface="Inter"/>
                <a:sym typeface="Inter"/>
              </a:rPr>
              <a:t>Defining the core challenge in 3D generation</a:t>
            </a:r>
            <a:endParaRPr/>
          </a:p>
        </p:txBody>
      </p:sp>
      <p:sp>
        <p:nvSpPr>
          <p:cNvPr id="100" name="Google Shape;100;p14"/>
          <p:cNvSpPr/>
          <p:nvPr/>
        </p:nvSpPr>
        <p:spPr>
          <a:xfrm>
            <a:off x="5715000" y="4130873"/>
            <a:ext cx="762000" cy="5715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15"/>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The Core Problem</a:t>
            </a:r>
            <a:endParaRPr/>
          </a:p>
        </p:txBody>
      </p:sp>
      <p:sp>
        <p:nvSpPr>
          <p:cNvPr id="106" name="Google Shape;106;p15"/>
          <p:cNvSpPr txBox="1"/>
          <p:nvPr/>
        </p:nvSpPr>
        <p:spPr>
          <a:xfrm>
            <a:off x="571500" y="1859309"/>
            <a:ext cx="5500687"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20617"/>
                </a:solidFill>
                <a:latin typeface="Poppins SemiBold"/>
                <a:ea typeface="Poppins SemiBold"/>
                <a:cs typeface="Poppins SemiBold"/>
                <a:sym typeface="Poppins SemiBold"/>
              </a:rPr>
              <a:t>Balancing Precision and Recall</a:t>
            </a:r>
            <a:endParaRPr/>
          </a:p>
        </p:txBody>
      </p:sp>
      <p:sp>
        <p:nvSpPr>
          <p:cNvPr id="107" name="Google Shape;107;p15"/>
          <p:cNvSpPr txBox="1"/>
          <p:nvPr/>
        </p:nvSpPr>
        <p:spPr>
          <a:xfrm>
            <a:off x="571500" y="2373659"/>
            <a:ext cx="5238900" cy="12051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Traditional 3D reconstruction models have consistently faced a severe challenge: balancing the high recall of object edges while maintaining absolute volumetric precision.</a:t>
            </a:r>
            <a:endParaRPr/>
          </a:p>
        </p:txBody>
      </p:sp>
      <p:sp>
        <p:nvSpPr>
          <p:cNvPr id="108" name="Google Shape;108;p15"/>
          <p:cNvSpPr txBox="1"/>
          <p:nvPr/>
        </p:nvSpPr>
        <p:spPr>
          <a:xfrm>
            <a:off x="571500" y="3841005"/>
            <a:ext cx="5238900" cy="12051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When translating 2D images into 3D voxel grids, existing architectures either heavily blur intricate boundary details or introduce excessive low-frequency noise across the model structure.</a:t>
            </a:r>
            <a:endParaRPr/>
          </a:p>
        </p:txBody>
      </p:sp>
      <p:pic>
        <p:nvPicPr>
          <p:cNvPr descr="image.png" id="109" name="Google Shape;109;p15"/>
          <p:cNvPicPr preferRelativeResize="0"/>
          <p:nvPr/>
        </p:nvPicPr>
        <p:blipFill rotWithShape="1">
          <a:blip r:embed="rId3">
            <a:alphaModFix/>
          </a:blip>
          <a:srcRect b="0" l="0" r="0" t="0"/>
          <a:stretch/>
        </p:blipFill>
        <p:spPr>
          <a:xfrm>
            <a:off x="8772525" y="2509837"/>
            <a:ext cx="457200" cy="457200"/>
          </a:xfrm>
          <a:prstGeom prst="rect">
            <a:avLst/>
          </a:prstGeom>
          <a:noFill/>
          <a:ln>
            <a:noFill/>
          </a:ln>
        </p:spPr>
      </p:pic>
      <p:sp>
        <p:nvSpPr>
          <p:cNvPr id="110" name="Google Shape;110;p15"/>
          <p:cNvSpPr txBox="1"/>
          <p:nvPr/>
        </p:nvSpPr>
        <p:spPr>
          <a:xfrm>
            <a:off x="8081962" y="3109912"/>
            <a:ext cx="18384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a:p>
        </p:txBody>
      </p:sp>
      <p:sp>
        <p:nvSpPr>
          <p:cNvPr id="111" name="Google Shape;111;p15"/>
          <p:cNvSpPr txBox="1"/>
          <p:nvPr/>
        </p:nvSpPr>
        <p:spPr>
          <a:xfrm>
            <a:off x="6991750" y="3536787"/>
            <a:ext cx="44388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a:p>
        </p:txBody>
      </p:sp>
      <p:pic>
        <p:nvPicPr>
          <p:cNvPr id="112" name="Google Shape;112;p15" title="Screenshot 2026-04-16 232912.png"/>
          <p:cNvPicPr preferRelativeResize="0"/>
          <p:nvPr/>
        </p:nvPicPr>
        <p:blipFill>
          <a:blip r:embed="rId4">
            <a:alphaModFix/>
          </a:blip>
          <a:stretch>
            <a:fillRect/>
          </a:stretch>
        </p:blipFill>
        <p:spPr>
          <a:xfrm>
            <a:off x="6638350" y="1326812"/>
            <a:ext cx="5238900" cy="3298800"/>
          </a:xfrm>
          <a:prstGeom prst="roundRect">
            <a:avLst>
              <a:gd fmla="val 16667" name="adj"/>
            </a:avLst>
          </a:prstGeom>
          <a:noFill/>
          <a:ln cap="flat" cmpd="sng" w="9525">
            <a:solidFill>
              <a:schemeClr val="lt1"/>
            </a:solidFill>
            <a:prstDash val="solid"/>
            <a:round/>
            <a:headEnd len="sm" w="sm" type="none"/>
            <a:tailEnd len="sm" w="sm" type="none"/>
          </a:ln>
          <a:effectLst>
            <a:reflection blurRad="0" dir="0" dist="0" endA="0" endPos="63000" fadeDir="5400012" kx="0" rotWithShape="0" algn="bl" stPos="0" sy="-100000" ky="0"/>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pic>
        <p:nvPicPr>
          <p:cNvPr descr="image.png" id="117" name="Google Shape;117;p16"/>
          <p:cNvPicPr preferRelativeResize="0"/>
          <p:nvPr/>
        </p:nvPicPr>
        <p:blipFill rotWithShape="1">
          <a:blip r:embed="rId3">
            <a:alphaModFix/>
          </a:blip>
          <a:srcRect b="0" l="0" r="0" t="0"/>
          <a:stretch/>
        </p:blipFill>
        <p:spPr>
          <a:xfrm>
            <a:off x="571500" y="1552575"/>
            <a:ext cx="5334000" cy="2809726"/>
          </a:xfrm>
          <a:prstGeom prst="rect">
            <a:avLst/>
          </a:prstGeom>
          <a:noFill/>
          <a:ln>
            <a:noFill/>
          </a:ln>
        </p:spPr>
      </p:pic>
      <p:pic>
        <p:nvPicPr>
          <p:cNvPr descr="image.png" id="118" name="Google Shape;118;p16"/>
          <p:cNvPicPr preferRelativeResize="0"/>
          <p:nvPr/>
        </p:nvPicPr>
        <p:blipFill rotWithShape="1">
          <a:blip r:embed="rId4">
            <a:alphaModFix/>
          </a:blip>
          <a:srcRect b="0" l="0" r="0" t="0"/>
          <a:stretch/>
        </p:blipFill>
        <p:spPr>
          <a:xfrm>
            <a:off x="6286500" y="1552575"/>
            <a:ext cx="5334000" cy="2809726"/>
          </a:xfrm>
          <a:prstGeom prst="rect">
            <a:avLst/>
          </a:prstGeom>
          <a:noFill/>
          <a:ln>
            <a:noFill/>
          </a:ln>
        </p:spPr>
      </p:pic>
      <p:sp>
        <p:nvSpPr>
          <p:cNvPr id="119" name="Google Shape;119;p16"/>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Motivation</a:t>
            </a:r>
            <a:endParaRPr/>
          </a:p>
        </p:txBody>
      </p:sp>
      <p:sp>
        <p:nvSpPr>
          <p:cNvPr id="120" name="Google Shape;120;p16"/>
          <p:cNvSpPr txBox="1"/>
          <p:nvPr/>
        </p:nvSpPr>
        <p:spPr>
          <a:xfrm>
            <a:off x="962025" y="1943100"/>
            <a:ext cx="4780597"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2563EB"/>
                </a:solidFill>
                <a:latin typeface="Poppins SemiBold"/>
                <a:ea typeface="Poppins SemiBold"/>
                <a:cs typeface="Poppins SemiBold"/>
                <a:sym typeface="Poppins SemiBold"/>
              </a:rPr>
              <a:t>Real-World Demand</a:t>
            </a:r>
            <a:endParaRPr/>
          </a:p>
        </p:txBody>
      </p:sp>
      <p:sp>
        <p:nvSpPr>
          <p:cNvPr id="121" name="Google Shape;121;p16"/>
          <p:cNvSpPr txBox="1"/>
          <p:nvPr/>
        </p:nvSpPr>
        <p:spPr>
          <a:xfrm>
            <a:off x="962025" y="2457450"/>
            <a:ext cx="4553100" cy="18702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High-fidelity 3D models are critical for modern applications such as Augmented/Virtual Reality (AR/VR), robotics, and autonomous driving. Imperfect boundary predictions limit the functionality and safety mapping in these domains.</a:t>
            </a:r>
            <a:endParaRPr/>
          </a:p>
        </p:txBody>
      </p:sp>
      <p:sp>
        <p:nvSpPr>
          <p:cNvPr id="122" name="Google Shape;122;p16"/>
          <p:cNvSpPr txBox="1"/>
          <p:nvPr/>
        </p:nvSpPr>
        <p:spPr>
          <a:xfrm>
            <a:off x="6677025" y="1943100"/>
            <a:ext cx="4780597"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10B981"/>
                </a:solidFill>
                <a:latin typeface="Poppins SemiBold"/>
                <a:ea typeface="Poppins SemiBold"/>
                <a:cs typeface="Poppins SemiBold"/>
                <a:sym typeface="Poppins SemiBold"/>
              </a:rPr>
              <a:t>The Power of Attention</a:t>
            </a:r>
            <a:endParaRPr/>
          </a:p>
        </p:txBody>
      </p:sp>
      <p:sp>
        <p:nvSpPr>
          <p:cNvPr id="123" name="Google Shape;123;p16"/>
          <p:cNvSpPr txBox="1"/>
          <p:nvPr/>
        </p:nvSpPr>
        <p:spPr>
          <a:xfrm>
            <a:off x="6677025" y="2457450"/>
            <a:ext cx="4553100" cy="15378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Attention mechanisms have revolutionized Natural Language Processing (NLP) and 2D Computer Vision. By intelligently directing focus to critical data points, applying this to 3D spaces can directly resolve edge distortion issues.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17"/>
          <p:cNvSpPr txBox="1"/>
          <p:nvPr/>
        </p:nvSpPr>
        <p:spPr>
          <a:xfrm>
            <a:off x="3645693" y="2384077"/>
            <a:ext cx="4900612" cy="8096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4200" u="none" cap="none" strike="noStrike">
                <a:solidFill>
                  <a:srgbClr val="020617"/>
                </a:solidFill>
                <a:latin typeface="Poppins SemiBold"/>
                <a:ea typeface="Poppins SemiBold"/>
                <a:cs typeface="Poppins SemiBold"/>
                <a:sym typeface="Poppins SemiBold"/>
              </a:rPr>
              <a:t>Literature Review</a:t>
            </a:r>
            <a:endParaRPr/>
          </a:p>
        </p:txBody>
      </p:sp>
      <p:sp>
        <p:nvSpPr>
          <p:cNvPr id="129" name="Google Shape;129;p17"/>
          <p:cNvSpPr txBox="1"/>
          <p:nvPr/>
        </p:nvSpPr>
        <p:spPr>
          <a:xfrm>
            <a:off x="3886200" y="3336577"/>
            <a:ext cx="44196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64748B"/>
                </a:solidFill>
                <a:latin typeface="Inter"/>
                <a:ea typeface="Inter"/>
                <a:cs typeface="Inter"/>
                <a:sym typeface="Inter"/>
              </a:rPr>
              <a:t>Analysis of foundational research papers</a:t>
            </a:r>
            <a:endParaRPr/>
          </a:p>
        </p:txBody>
      </p:sp>
      <p:sp>
        <p:nvSpPr>
          <p:cNvPr id="130" name="Google Shape;130;p17"/>
          <p:cNvSpPr/>
          <p:nvPr/>
        </p:nvSpPr>
        <p:spPr>
          <a:xfrm>
            <a:off x="5715000" y="4130873"/>
            <a:ext cx="762000" cy="5715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pic>
        <p:nvPicPr>
          <p:cNvPr descr="image.png" id="135" name="Google Shape;135;p18"/>
          <p:cNvPicPr preferRelativeResize="0"/>
          <p:nvPr/>
        </p:nvPicPr>
        <p:blipFill rotWithShape="1">
          <a:blip r:embed="rId3">
            <a:alphaModFix/>
          </a:blip>
          <a:srcRect b="0" l="0" r="0" t="0"/>
          <a:stretch/>
        </p:blipFill>
        <p:spPr>
          <a:xfrm>
            <a:off x="571500" y="1552575"/>
            <a:ext cx="5334000" cy="2261145"/>
          </a:xfrm>
          <a:prstGeom prst="rect">
            <a:avLst/>
          </a:prstGeom>
          <a:noFill/>
          <a:ln>
            <a:noFill/>
          </a:ln>
        </p:spPr>
      </p:pic>
      <p:pic>
        <p:nvPicPr>
          <p:cNvPr descr="image.png" id="136" name="Google Shape;136;p18"/>
          <p:cNvPicPr preferRelativeResize="0"/>
          <p:nvPr/>
        </p:nvPicPr>
        <p:blipFill rotWithShape="1">
          <a:blip r:embed="rId4">
            <a:alphaModFix/>
          </a:blip>
          <a:srcRect b="0" l="0" r="0" t="0"/>
          <a:stretch/>
        </p:blipFill>
        <p:spPr>
          <a:xfrm>
            <a:off x="6286500" y="1552575"/>
            <a:ext cx="5334000" cy="2261145"/>
          </a:xfrm>
          <a:prstGeom prst="rect">
            <a:avLst/>
          </a:prstGeom>
          <a:noFill/>
          <a:ln>
            <a:noFill/>
          </a:ln>
        </p:spPr>
      </p:pic>
      <p:sp>
        <p:nvSpPr>
          <p:cNvPr id="137" name="Google Shape;137;p18"/>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Paper 1: Pix2Vox++ (Methodology)</a:t>
            </a:r>
            <a:endParaRPr/>
          </a:p>
        </p:txBody>
      </p:sp>
      <p:sp>
        <p:nvSpPr>
          <p:cNvPr id="138" name="Google Shape;138;p18"/>
          <p:cNvSpPr txBox="1"/>
          <p:nvPr/>
        </p:nvSpPr>
        <p:spPr>
          <a:xfrm>
            <a:off x="962025" y="1943100"/>
            <a:ext cx="4780597"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20617"/>
                </a:solidFill>
                <a:latin typeface="Poppins SemiBold"/>
                <a:ea typeface="Poppins SemiBold"/>
                <a:cs typeface="Poppins SemiBold"/>
                <a:sym typeface="Poppins SemiBold"/>
              </a:rPr>
              <a:t>Work Done</a:t>
            </a:r>
            <a:endParaRPr/>
          </a:p>
        </p:txBody>
      </p:sp>
      <p:sp>
        <p:nvSpPr>
          <p:cNvPr id="139" name="Google Shape;139;p18"/>
          <p:cNvSpPr txBox="1"/>
          <p:nvPr/>
        </p:nvSpPr>
        <p:spPr>
          <a:xfrm>
            <a:off x="962025" y="2457450"/>
            <a:ext cx="4553100" cy="12051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The authors developed a multi-scale context-aware framework for reconstructing 3D objects from single or multiple images, focusing on fusing spatial contexts.</a:t>
            </a:r>
            <a:endParaRPr/>
          </a:p>
        </p:txBody>
      </p:sp>
      <p:sp>
        <p:nvSpPr>
          <p:cNvPr id="140" name="Google Shape;140;p18"/>
          <p:cNvSpPr txBox="1"/>
          <p:nvPr/>
        </p:nvSpPr>
        <p:spPr>
          <a:xfrm>
            <a:off x="6677025" y="1943100"/>
            <a:ext cx="4780597"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20617"/>
                </a:solidFill>
                <a:latin typeface="Poppins SemiBold"/>
                <a:ea typeface="Poppins SemiBold"/>
                <a:cs typeface="Poppins SemiBold"/>
                <a:sym typeface="Poppins SemiBold"/>
              </a:rPr>
              <a:t>Techniques Used</a:t>
            </a:r>
            <a:endParaRPr/>
          </a:p>
        </p:txBody>
      </p:sp>
      <p:sp>
        <p:nvSpPr>
          <p:cNvPr id="141" name="Google Shape;141;p18"/>
          <p:cNvSpPr txBox="1"/>
          <p:nvPr/>
        </p:nvSpPr>
        <p:spPr>
          <a:xfrm>
            <a:off x="6677025" y="2457450"/>
            <a:ext cx="4553100" cy="12051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Utilizes an Encoder-Decoder architecture followed by a 3D U-Net based Refiner. Coarse volumes are generated independently and then fused contextually.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19"/>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Paper 1: Pix2Vox++ (Results &amp; Limitations)</a:t>
            </a:r>
            <a:endParaRPr/>
          </a:p>
        </p:txBody>
      </p:sp>
      <p:sp>
        <p:nvSpPr>
          <p:cNvPr id="147" name="Google Shape;147;p19"/>
          <p:cNvSpPr txBox="1"/>
          <p:nvPr/>
        </p:nvSpPr>
        <p:spPr>
          <a:xfrm>
            <a:off x="952500" y="1743075"/>
            <a:ext cx="48577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Reported Results:</a:t>
            </a:r>
            <a:r>
              <a:rPr b="0" i="0" lang="en-US" sz="1350" u="none" cap="none" strike="noStrike">
                <a:solidFill>
                  <a:srgbClr val="1E293B"/>
                </a:solidFill>
                <a:latin typeface="Inter"/>
                <a:ea typeface="Inter"/>
                <a:cs typeface="Inter"/>
                <a:sym typeface="Inter"/>
              </a:rPr>
              <a:t> Achieved high Intersection over Union (IoU) scores on the ShapeNet benchmark across multiple object categories.</a:t>
            </a:r>
            <a:endParaRPr/>
          </a:p>
        </p:txBody>
      </p:sp>
      <p:sp>
        <p:nvSpPr>
          <p:cNvPr id="148" name="Google Shape;148;p19"/>
          <p:cNvSpPr txBox="1"/>
          <p:nvPr/>
        </p:nvSpPr>
        <p:spPr>
          <a:xfrm>
            <a:off x="952500" y="2804070"/>
            <a:ext cx="4857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Limitations:</a:t>
            </a:r>
            <a:r>
              <a:rPr b="0" i="0" lang="en-US" sz="1350" u="none" cap="none" strike="noStrike">
                <a:solidFill>
                  <a:srgbClr val="1E293B"/>
                </a:solidFill>
                <a:latin typeface="Inter"/>
                <a:ea typeface="Inter"/>
                <a:cs typeface="Inter"/>
                <a:sym typeface="Inter"/>
              </a:rPr>
              <a:t> The standard 3D U-Net refiner struggles significantly with capturing intricate object boundaries.</a:t>
            </a:r>
            <a:endParaRPr/>
          </a:p>
        </p:txBody>
      </p:sp>
      <p:sp>
        <p:nvSpPr>
          <p:cNvPr id="149" name="Google Shape;149;p19"/>
          <p:cNvSpPr txBox="1"/>
          <p:nvPr/>
        </p:nvSpPr>
        <p:spPr>
          <a:xfrm>
            <a:off x="952500" y="3590776"/>
            <a:ext cx="48577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Root Cause:</a:t>
            </a:r>
            <a:r>
              <a:rPr b="0" i="0" lang="en-US" sz="1350" u="none" cap="none" strike="noStrike">
                <a:solidFill>
                  <a:srgbClr val="1E293B"/>
                </a:solidFill>
                <a:latin typeface="Inter"/>
                <a:ea typeface="Inter"/>
                <a:cs typeface="Inter"/>
                <a:sym typeface="Inter"/>
              </a:rPr>
              <a:t> Lack of targeted attention means high-frequency spatial details are smoothed out during upsampling.</a:t>
            </a:r>
            <a:endParaRPr/>
          </a:p>
        </p:txBody>
      </p:sp>
      <p:sp>
        <p:nvSpPr>
          <p:cNvPr id="150" name="Google Shape;150;p19"/>
          <p:cNvSpPr txBox="1"/>
          <p:nvPr/>
        </p:nvSpPr>
        <p:spPr>
          <a:xfrm>
            <a:off x="8062904" y="3280640"/>
            <a:ext cx="27348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a:p>
        </p:txBody>
      </p:sp>
      <p:sp>
        <p:nvSpPr>
          <p:cNvPr id="151" name="Google Shape;151;p19"/>
          <p:cNvSpPr txBox="1"/>
          <p:nvPr/>
        </p:nvSpPr>
        <p:spPr>
          <a:xfrm>
            <a:off x="6781800" y="3529012"/>
            <a:ext cx="44388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a:p>
        </p:txBody>
      </p:sp>
      <p:pic>
        <p:nvPicPr>
          <p:cNvPr descr="image.png" id="152" name="Google Shape;152;p19"/>
          <p:cNvPicPr preferRelativeResize="0"/>
          <p:nvPr/>
        </p:nvPicPr>
        <p:blipFill rotWithShape="1">
          <a:blip r:embed="rId3">
            <a:alphaModFix/>
          </a:blip>
          <a:srcRect b="0" l="0" r="0" t="0"/>
          <a:stretch/>
        </p:blipFill>
        <p:spPr>
          <a:xfrm>
            <a:off x="571500" y="1776412"/>
            <a:ext cx="190500" cy="200025"/>
          </a:xfrm>
          <a:prstGeom prst="rect">
            <a:avLst/>
          </a:prstGeom>
          <a:noFill/>
          <a:ln>
            <a:noFill/>
          </a:ln>
        </p:spPr>
      </p:pic>
      <p:pic>
        <p:nvPicPr>
          <p:cNvPr descr="image.png" id="153" name="Google Shape;153;p19"/>
          <p:cNvPicPr preferRelativeResize="0"/>
          <p:nvPr/>
        </p:nvPicPr>
        <p:blipFill rotWithShape="1">
          <a:blip r:embed="rId4">
            <a:alphaModFix/>
          </a:blip>
          <a:srcRect b="0" l="0" r="0" t="0"/>
          <a:stretch/>
        </p:blipFill>
        <p:spPr>
          <a:xfrm>
            <a:off x="571500" y="2837408"/>
            <a:ext cx="190500" cy="200025"/>
          </a:xfrm>
          <a:prstGeom prst="rect">
            <a:avLst/>
          </a:prstGeom>
          <a:noFill/>
          <a:ln>
            <a:noFill/>
          </a:ln>
        </p:spPr>
      </p:pic>
      <p:pic>
        <p:nvPicPr>
          <p:cNvPr descr="image.png" id="154" name="Google Shape;154;p19"/>
          <p:cNvPicPr preferRelativeResize="0"/>
          <p:nvPr/>
        </p:nvPicPr>
        <p:blipFill rotWithShape="1">
          <a:blip r:embed="rId5">
            <a:alphaModFix/>
          </a:blip>
          <a:srcRect b="0" l="0" r="0" t="0"/>
          <a:stretch/>
        </p:blipFill>
        <p:spPr>
          <a:xfrm>
            <a:off x="571500" y="3624113"/>
            <a:ext cx="190500" cy="200025"/>
          </a:xfrm>
          <a:prstGeom prst="rect">
            <a:avLst/>
          </a:prstGeom>
          <a:noFill/>
          <a:ln>
            <a:noFill/>
          </a:ln>
        </p:spPr>
      </p:pic>
      <p:pic>
        <p:nvPicPr>
          <p:cNvPr id="155" name="Google Shape;155;p19" title="Screenshot 2026-04-17 101018.png"/>
          <p:cNvPicPr preferRelativeResize="0"/>
          <p:nvPr/>
        </p:nvPicPr>
        <p:blipFill>
          <a:blip r:embed="rId6">
            <a:alphaModFix/>
          </a:blip>
          <a:stretch>
            <a:fillRect/>
          </a:stretch>
        </p:blipFill>
        <p:spPr>
          <a:xfrm>
            <a:off x="6781800" y="1494300"/>
            <a:ext cx="4489800" cy="4138800"/>
          </a:xfrm>
          <a:prstGeom prst="roundRect">
            <a:avLst>
              <a:gd fmla="val 16667" name="adj"/>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pic>
        <p:nvPicPr>
          <p:cNvPr descr="image.png" id="160" name="Google Shape;160;p20"/>
          <p:cNvPicPr preferRelativeResize="0"/>
          <p:nvPr/>
        </p:nvPicPr>
        <p:blipFill rotWithShape="1">
          <a:blip r:embed="rId3">
            <a:alphaModFix/>
          </a:blip>
          <a:srcRect b="0" l="0" r="0" t="0"/>
          <a:stretch/>
        </p:blipFill>
        <p:spPr>
          <a:xfrm>
            <a:off x="571500" y="1552575"/>
            <a:ext cx="5334000" cy="2535435"/>
          </a:xfrm>
          <a:prstGeom prst="rect">
            <a:avLst/>
          </a:prstGeom>
          <a:noFill/>
          <a:ln>
            <a:noFill/>
          </a:ln>
        </p:spPr>
      </p:pic>
      <p:pic>
        <p:nvPicPr>
          <p:cNvPr descr="image.png" id="161" name="Google Shape;161;p20"/>
          <p:cNvPicPr preferRelativeResize="0"/>
          <p:nvPr/>
        </p:nvPicPr>
        <p:blipFill rotWithShape="1">
          <a:blip r:embed="rId4">
            <a:alphaModFix/>
          </a:blip>
          <a:srcRect b="0" l="0" r="0" t="0"/>
          <a:stretch/>
        </p:blipFill>
        <p:spPr>
          <a:xfrm>
            <a:off x="6286500" y="1552575"/>
            <a:ext cx="5334000" cy="2535435"/>
          </a:xfrm>
          <a:prstGeom prst="rect">
            <a:avLst/>
          </a:prstGeom>
          <a:noFill/>
          <a:ln>
            <a:noFill/>
          </a:ln>
        </p:spPr>
      </p:pic>
      <p:sp>
        <p:nvSpPr>
          <p:cNvPr id="162" name="Google Shape;162;p20"/>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Paper 2: 3D-R2N2 (Methodology)</a:t>
            </a:r>
            <a:endParaRPr/>
          </a:p>
        </p:txBody>
      </p:sp>
      <p:sp>
        <p:nvSpPr>
          <p:cNvPr id="163" name="Google Shape;163;p20"/>
          <p:cNvSpPr txBox="1"/>
          <p:nvPr/>
        </p:nvSpPr>
        <p:spPr>
          <a:xfrm>
            <a:off x="962025" y="1943100"/>
            <a:ext cx="4780597"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20617"/>
                </a:solidFill>
                <a:latin typeface="Poppins SemiBold"/>
                <a:ea typeface="Poppins SemiBold"/>
                <a:cs typeface="Poppins SemiBold"/>
                <a:sym typeface="Poppins SemiBold"/>
              </a:rPr>
              <a:t>Work Done</a:t>
            </a:r>
            <a:endParaRPr/>
          </a:p>
        </p:txBody>
      </p:sp>
      <p:sp>
        <p:nvSpPr>
          <p:cNvPr id="164" name="Google Shape;164;p20"/>
          <p:cNvSpPr txBox="1"/>
          <p:nvPr/>
        </p:nvSpPr>
        <p:spPr>
          <a:xfrm>
            <a:off x="962025" y="2457450"/>
            <a:ext cx="4553100" cy="8727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Introduced a unified approach enabling 3D object reconstruction from either a single view or multiple views using sequential processing.</a:t>
            </a:r>
            <a:endParaRPr/>
          </a:p>
        </p:txBody>
      </p:sp>
      <p:sp>
        <p:nvSpPr>
          <p:cNvPr id="165" name="Google Shape;165;p20"/>
          <p:cNvSpPr txBox="1"/>
          <p:nvPr/>
        </p:nvSpPr>
        <p:spPr>
          <a:xfrm>
            <a:off x="6677025" y="1943100"/>
            <a:ext cx="4780597"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20617"/>
                </a:solidFill>
                <a:latin typeface="Poppins SemiBold"/>
                <a:ea typeface="Poppins SemiBold"/>
                <a:cs typeface="Poppins SemiBold"/>
                <a:sym typeface="Poppins SemiBold"/>
              </a:rPr>
              <a:t>Techniques Used</a:t>
            </a:r>
            <a:endParaRPr/>
          </a:p>
        </p:txBody>
      </p:sp>
      <p:sp>
        <p:nvSpPr>
          <p:cNvPr id="166" name="Google Shape;166;p20"/>
          <p:cNvSpPr txBox="1"/>
          <p:nvPr/>
        </p:nvSpPr>
        <p:spPr>
          <a:xfrm>
            <a:off x="6677025" y="2457450"/>
            <a:ext cx="4553100" cy="12051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Employs a 3D Recurrent Neural Network (3D-RNN), specifically utilizing Gated Recurrent Units (GRUs) to sequentially update hidden states representing 3D voxels.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21"/>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Paper 2: 3D-R2N2 (Results &amp; Limitations)</a:t>
            </a:r>
            <a:endParaRPr/>
          </a:p>
        </p:txBody>
      </p:sp>
      <p:sp>
        <p:nvSpPr>
          <p:cNvPr id="172" name="Google Shape;172;p21"/>
          <p:cNvSpPr txBox="1"/>
          <p:nvPr/>
        </p:nvSpPr>
        <p:spPr>
          <a:xfrm>
            <a:off x="952500" y="1743075"/>
            <a:ext cx="48577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Reported Results:</a:t>
            </a:r>
            <a:r>
              <a:rPr b="0" i="0" lang="en-US" sz="1350" u="none" cap="none" strike="noStrike">
                <a:solidFill>
                  <a:srgbClr val="1E293B"/>
                </a:solidFill>
                <a:latin typeface="Inter"/>
                <a:ea typeface="Inter"/>
                <a:cs typeface="Inter"/>
                <a:sym typeface="Inter"/>
              </a:rPr>
              <a:t> Pioneered multi-view learning, establishing a solid baseline for sequential image-to-voxel generation.</a:t>
            </a:r>
            <a:endParaRPr/>
          </a:p>
        </p:txBody>
      </p:sp>
      <p:sp>
        <p:nvSpPr>
          <p:cNvPr id="173" name="Google Shape;173;p21"/>
          <p:cNvSpPr txBox="1"/>
          <p:nvPr/>
        </p:nvSpPr>
        <p:spPr>
          <a:xfrm>
            <a:off x="952500" y="2804070"/>
            <a:ext cx="48577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Limitations:</a:t>
            </a:r>
            <a:r>
              <a:rPr b="0" i="0" lang="en-US" sz="1350" u="none" cap="none" strike="noStrike">
                <a:solidFill>
                  <a:srgbClr val="1E293B"/>
                </a:solidFill>
                <a:latin typeface="Inter"/>
                <a:ea typeface="Inter"/>
                <a:cs typeface="Inter"/>
                <a:sym typeface="Inter"/>
              </a:rPr>
              <a:t> The network architecture is permutation variant; changing the sequence order of the images drastically alters the output.</a:t>
            </a:r>
            <a:endParaRPr/>
          </a:p>
        </p:txBody>
      </p:sp>
      <p:sp>
        <p:nvSpPr>
          <p:cNvPr id="174" name="Google Shape;174;p21"/>
          <p:cNvSpPr txBox="1"/>
          <p:nvPr/>
        </p:nvSpPr>
        <p:spPr>
          <a:xfrm>
            <a:off x="952500" y="3865066"/>
            <a:ext cx="48577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Efficiency Issue:</a:t>
            </a:r>
            <a:r>
              <a:rPr b="0" i="0" lang="en-US" sz="1350" u="none" cap="none" strike="noStrike">
                <a:solidFill>
                  <a:srgbClr val="1E293B"/>
                </a:solidFill>
                <a:latin typeface="Inter"/>
                <a:ea typeface="Inter"/>
                <a:cs typeface="Inter"/>
                <a:sym typeface="Inter"/>
              </a:rPr>
              <a:t> Highly inefficient for aggregating features from a long sequence of input views due to vanishing gradients.</a:t>
            </a:r>
            <a:endParaRPr/>
          </a:p>
        </p:txBody>
      </p:sp>
      <p:sp>
        <p:nvSpPr>
          <p:cNvPr id="175" name="Google Shape;175;p21"/>
          <p:cNvSpPr txBox="1"/>
          <p:nvPr/>
        </p:nvSpPr>
        <p:spPr>
          <a:xfrm>
            <a:off x="8081962" y="3209925"/>
            <a:ext cx="18384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a:p>
        </p:txBody>
      </p:sp>
      <p:sp>
        <p:nvSpPr>
          <p:cNvPr id="176" name="Google Shape;176;p21"/>
          <p:cNvSpPr txBox="1"/>
          <p:nvPr/>
        </p:nvSpPr>
        <p:spPr>
          <a:xfrm>
            <a:off x="6886575" y="3629025"/>
            <a:ext cx="42291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a:p>
        </p:txBody>
      </p:sp>
      <p:pic>
        <p:nvPicPr>
          <p:cNvPr descr="image.png" id="177" name="Google Shape;177;p21"/>
          <p:cNvPicPr preferRelativeResize="0"/>
          <p:nvPr/>
        </p:nvPicPr>
        <p:blipFill rotWithShape="1">
          <a:blip r:embed="rId3">
            <a:alphaModFix/>
          </a:blip>
          <a:srcRect b="0" l="0" r="0" t="0"/>
          <a:stretch/>
        </p:blipFill>
        <p:spPr>
          <a:xfrm>
            <a:off x="571500" y="1776412"/>
            <a:ext cx="190500" cy="200025"/>
          </a:xfrm>
          <a:prstGeom prst="rect">
            <a:avLst/>
          </a:prstGeom>
          <a:noFill/>
          <a:ln>
            <a:noFill/>
          </a:ln>
        </p:spPr>
      </p:pic>
      <p:pic>
        <p:nvPicPr>
          <p:cNvPr descr="image.png" id="178" name="Google Shape;178;p21"/>
          <p:cNvPicPr preferRelativeResize="0"/>
          <p:nvPr/>
        </p:nvPicPr>
        <p:blipFill rotWithShape="1">
          <a:blip r:embed="rId4">
            <a:alphaModFix/>
          </a:blip>
          <a:srcRect b="0" l="0" r="0" t="0"/>
          <a:stretch/>
        </p:blipFill>
        <p:spPr>
          <a:xfrm>
            <a:off x="571500" y="2837408"/>
            <a:ext cx="190500" cy="200025"/>
          </a:xfrm>
          <a:prstGeom prst="rect">
            <a:avLst/>
          </a:prstGeom>
          <a:noFill/>
          <a:ln>
            <a:noFill/>
          </a:ln>
        </p:spPr>
      </p:pic>
      <p:pic>
        <p:nvPicPr>
          <p:cNvPr descr="image.png" id="179" name="Google Shape;179;p21"/>
          <p:cNvPicPr preferRelativeResize="0"/>
          <p:nvPr/>
        </p:nvPicPr>
        <p:blipFill rotWithShape="1">
          <a:blip r:embed="rId5">
            <a:alphaModFix/>
          </a:blip>
          <a:srcRect b="0" l="0" r="0" t="0"/>
          <a:stretch/>
        </p:blipFill>
        <p:spPr>
          <a:xfrm>
            <a:off x="571500" y="3898403"/>
            <a:ext cx="190500" cy="200025"/>
          </a:xfrm>
          <a:prstGeom prst="rect">
            <a:avLst/>
          </a:prstGeom>
          <a:noFill/>
          <a:ln>
            <a:noFill/>
          </a:ln>
        </p:spPr>
      </p:pic>
      <p:pic>
        <p:nvPicPr>
          <p:cNvPr id="180" name="Google Shape;180;p21" title="Screenshot 2026-04-17 101305.png"/>
          <p:cNvPicPr preferRelativeResize="0"/>
          <p:nvPr/>
        </p:nvPicPr>
        <p:blipFill>
          <a:blip r:embed="rId6">
            <a:alphaModFix/>
          </a:blip>
          <a:stretch>
            <a:fillRect/>
          </a:stretch>
        </p:blipFill>
        <p:spPr>
          <a:xfrm>
            <a:off x="6732600" y="1677925"/>
            <a:ext cx="4456800" cy="3445500"/>
          </a:xfrm>
          <a:prstGeom prst="roundRect">
            <a:avLst>
              <a:gd fmla="val 16667" name="adj"/>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pic>
        <p:nvPicPr>
          <p:cNvPr descr="image.png" id="185" name="Google Shape;185;p22"/>
          <p:cNvPicPr preferRelativeResize="0"/>
          <p:nvPr/>
        </p:nvPicPr>
        <p:blipFill rotWithShape="1">
          <a:blip r:embed="rId3">
            <a:alphaModFix/>
          </a:blip>
          <a:srcRect b="0" l="0" r="0" t="0"/>
          <a:stretch/>
        </p:blipFill>
        <p:spPr>
          <a:xfrm>
            <a:off x="571500" y="1552575"/>
            <a:ext cx="5334000" cy="2261145"/>
          </a:xfrm>
          <a:prstGeom prst="rect">
            <a:avLst/>
          </a:prstGeom>
          <a:noFill/>
          <a:ln>
            <a:noFill/>
          </a:ln>
        </p:spPr>
      </p:pic>
      <p:pic>
        <p:nvPicPr>
          <p:cNvPr descr="image.png" id="186" name="Google Shape;186;p22"/>
          <p:cNvPicPr preferRelativeResize="0"/>
          <p:nvPr/>
        </p:nvPicPr>
        <p:blipFill rotWithShape="1">
          <a:blip r:embed="rId4">
            <a:alphaModFix/>
          </a:blip>
          <a:srcRect b="0" l="0" r="0" t="0"/>
          <a:stretch/>
        </p:blipFill>
        <p:spPr>
          <a:xfrm>
            <a:off x="6286500" y="1552575"/>
            <a:ext cx="5334000" cy="2261145"/>
          </a:xfrm>
          <a:prstGeom prst="rect">
            <a:avLst/>
          </a:prstGeom>
          <a:noFill/>
          <a:ln>
            <a:noFill/>
          </a:ln>
        </p:spPr>
      </p:pic>
      <p:sp>
        <p:nvSpPr>
          <p:cNvPr id="187" name="Google Shape;187;p22"/>
          <p:cNvSpPr txBox="1"/>
          <p:nvPr/>
        </p:nvSpPr>
        <p:spPr>
          <a:xfrm>
            <a:off x="571500" y="571500"/>
            <a:ext cx="11601600" cy="60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Paper 3: AttSets (Methodology)</a:t>
            </a:r>
            <a:endParaRPr/>
          </a:p>
        </p:txBody>
      </p:sp>
      <p:sp>
        <p:nvSpPr>
          <p:cNvPr id="188" name="Google Shape;188;p22"/>
          <p:cNvSpPr txBox="1"/>
          <p:nvPr/>
        </p:nvSpPr>
        <p:spPr>
          <a:xfrm>
            <a:off x="962025" y="1943100"/>
            <a:ext cx="4780500" cy="371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20617"/>
                </a:solidFill>
                <a:latin typeface="Poppins SemiBold"/>
                <a:ea typeface="Poppins SemiBold"/>
                <a:cs typeface="Poppins SemiBold"/>
                <a:sym typeface="Poppins SemiBold"/>
              </a:rPr>
              <a:t>Work Done</a:t>
            </a:r>
            <a:endParaRPr/>
          </a:p>
        </p:txBody>
      </p:sp>
      <p:sp>
        <p:nvSpPr>
          <p:cNvPr id="189" name="Google Shape;189;p22"/>
          <p:cNvSpPr txBox="1"/>
          <p:nvPr/>
        </p:nvSpPr>
        <p:spPr>
          <a:xfrm>
            <a:off x="962025" y="2457450"/>
            <a:ext cx="4553100" cy="8727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Focused on solving the permutation variance issue of RNNs by aggregating multi-view features in a robust, order-agnostic manner.</a:t>
            </a:r>
            <a:endParaRPr/>
          </a:p>
        </p:txBody>
      </p:sp>
      <p:sp>
        <p:nvSpPr>
          <p:cNvPr id="190" name="Google Shape;190;p22"/>
          <p:cNvSpPr txBox="1"/>
          <p:nvPr/>
        </p:nvSpPr>
        <p:spPr>
          <a:xfrm>
            <a:off x="6677025" y="1943100"/>
            <a:ext cx="4780500" cy="371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20617"/>
                </a:solidFill>
                <a:latin typeface="Poppins SemiBold"/>
                <a:ea typeface="Poppins SemiBold"/>
                <a:cs typeface="Poppins SemiBold"/>
                <a:sym typeface="Poppins SemiBold"/>
              </a:rPr>
              <a:t>Techniques Used</a:t>
            </a:r>
            <a:endParaRPr/>
          </a:p>
        </p:txBody>
      </p:sp>
      <p:sp>
        <p:nvSpPr>
          <p:cNvPr id="191" name="Google Shape;191;p22"/>
          <p:cNvSpPr txBox="1"/>
          <p:nvPr/>
        </p:nvSpPr>
        <p:spPr>
          <a:xfrm>
            <a:off x="6677025" y="2457450"/>
            <a:ext cx="4553100" cy="8727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Designed an Attentional Aggregation module to automatically predict a weight matrix as global attention scores for the extracted feature sets.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sp>
        <p:nvSpPr>
          <p:cNvPr id="196" name="Google Shape;196;p23"/>
          <p:cNvSpPr txBox="1"/>
          <p:nvPr/>
        </p:nvSpPr>
        <p:spPr>
          <a:xfrm>
            <a:off x="571500" y="571500"/>
            <a:ext cx="11601600" cy="60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Paper 3: AttSets (Results &amp; Limitations)</a:t>
            </a:r>
            <a:endParaRPr/>
          </a:p>
        </p:txBody>
      </p:sp>
      <p:sp>
        <p:nvSpPr>
          <p:cNvPr id="197" name="Google Shape;197;p23"/>
          <p:cNvSpPr txBox="1"/>
          <p:nvPr/>
        </p:nvSpPr>
        <p:spPr>
          <a:xfrm>
            <a:off x="952500" y="1743075"/>
            <a:ext cx="4857900" cy="822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Reported Results:</a:t>
            </a:r>
            <a:r>
              <a:rPr b="0" i="0" lang="en-US" sz="1350" u="none" cap="none" strike="noStrike">
                <a:solidFill>
                  <a:srgbClr val="1E293B"/>
                </a:solidFill>
                <a:latin typeface="Inter"/>
                <a:ea typeface="Inter"/>
                <a:cs typeface="Inter"/>
                <a:sym typeface="Inter"/>
              </a:rPr>
              <a:t> Successfully handled arbitrary numbers of views seamlessly without being affected by image input order.</a:t>
            </a:r>
            <a:endParaRPr/>
          </a:p>
        </p:txBody>
      </p:sp>
      <p:sp>
        <p:nvSpPr>
          <p:cNvPr id="198" name="Google Shape;198;p23"/>
          <p:cNvSpPr txBox="1"/>
          <p:nvPr/>
        </p:nvSpPr>
        <p:spPr>
          <a:xfrm>
            <a:off x="952500" y="2804070"/>
            <a:ext cx="4857900" cy="822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Limitations:</a:t>
            </a:r>
            <a:r>
              <a:rPr b="0" i="0" lang="en-US" sz="1350" u="none" cap="none" strike="noStrike">
                <a:solidFill>
                  <a:srgbClr val="1E293B"/>
                </a:solidFill>
                <a:latin typeface="Inter"/>
                <a:ea typeface="Inter"/>
                <a:cs typeface="Inter"/>
                <a:sym typeface="Inter"/>
              </a:rPr>
              <a:t> Uses global attention weights for the entire view, failing to localize and enhance specific local geometric features.</a:t>
            </a:r>
            <a:endParaRPr/>
          </a:p>
        </p:txBody>
      </p:sp>
      <p:sp>
        <p:nvSpPr>
          <p:cNvPr id="199" name="Google Shape;199;p23"/>
          <p:cNvSpPr txBox="1"/>
          <p:nvPr/>
        </p:nvSpPr>
        <p:spPr>
          <a:xfrm>
            <a:off x="952500" y="3865066"/>
            <a:ext cx="4857900" cy="548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Quality Tradeoff:</a:t>
            </a:r>
            <a:r>
              <a:rPr b="0" i="0" lang="en-US" sz="1350" u="none" cap="none" strike="noStrike">
                <a:solidFill>
                  <a:srgbClr val="1E293B"/>
                </a:solidFill>
                <a:latin typeface="Inter"/>
                <a:ea typeface="Inter"/>
                <a:cs typeface="Inter"/>
                <a:sym typeface="Inter"/>
              </a:rPr>
              <a:t> Lacks the granular refinement needed to prevent noise accumulation at object boundaries.</a:t>
            </a:r>
            <a:endParaRPr/>
          </a:p>
        </p:txBody>
      </p:sp>
      <p:sp>
        <p:nvSpPr>
          <p:cNvPr id="200" name="Google Shape;200;p23"/>
          <p:cNvSpPr txBox="1"/>
          <p:nvPr/>
        </p:nvSpPr>
        <p:spPr>
          <a:xfrm>
            <a:off x="8081962" y="3209925"/>
            <a:ext cx="18384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a:p>
        </p:txBody>
      </p:sp>
      <p:sp>
        <p:nvSpPr>
          <p:cNvPr id="201" name="Google Shape;201;p23"/>
          <p:cNvSpPr txBox="1"/>
          <p:nvPr/>
        </p:nvSpPr>
        <p:spPr>
          <a:xfrm>
            <a:off x="6838950" y="3629025"/>
            <a:ext cx="43242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a:p>
        </p:txBody>
      </p:sp>
      <p:pic>
        <p:nvPicPr>
          <p:cNvPr descr="image.png" id="202" name="Google Shape;202;p23"/>
          <p:cNvPicPr preferRelativeResize="0"/>
          <p:nvPr/>
        </p:nvPicPr>
        <p:blipFill rotWithShape="1">
          <a:blip r:embed="rId3">
            <a:alphaModFix/>
          </a:blip>
          <a:srcRect b="0" l="0" r="0" t="0"/>
          <a:stretch/>
        </p:blipFill>
        <p:spPr>
          <a:xfrm>
            <a:off x="571500" y="1776412"/>
            <a:ext cx="190500" cy="200025"/>
          </a:xfrm>
          <a:prstGeom prst="rect">
            <a:avLst/>
          </a:prstGeom>
          <a:noFill/>
          <a:ln>
            <a:noFill/>
          </a:ln>
        </p:spPr>
      </p:pic>
      <p:pic>
        <p:nvPicPr>
          <p:cNvPr descr="image.png" id="203" name="Google Shape;203;p23"/>
          <p:cNvPicPr preferRelativeResize="0"/>
          <p:nvPr/>
        </p:nvPicPr>
        <p:blipFill rotWithShape="1">
          <a:blip r:embed="rId4">
            <a:alphaModFix/>
          </a:blip>
          <a:srcRect b="0" l="0" r="0" t="0"/>
          <a:stretch/>
        </p:blipFill>
        <p:spPr>
          <a:xfrm>
            <a:off x="571500" y="2837408"/>
            <a:ext cx="190500" cy="200025"/>
          </a:xfrm>
          <a:prstGeom prst="rect">
            <a:avLst/>
          </a:prstGeom>
          <a:noFill/>
          <a:ln>
            <a:noFill/>
          </a:ln>
        </p:spPr>
      </p:pic>
      <p:pic>
        <p:nvPicPr>
          <p:cNvPr descr="image.png" id="204" name="Google Shape;204;p23"/>
          <p:cNvPicPr preferRelativeResize="0"/>
          <p:nvPr/>
        </p:nvPicPr>
        <p:blipFill rotWithShape="1">
          <a:blip r:embed="rId5">
            <a:alphaModFix/>
          </a:blip>
          <a:srcRect b="0" l="0" r="0" t="0"/>
          <a:stretch/>
        </p:blipFill>
        <p:spPr>
          <a:xfrm>
            <a:off x="571500" y="3898403"/>
            <a:ext cx="190500" cy="200025"/>
          </a:xfrm>
          <a:prstGeom prst="rect">
            <a:avLst/>
          </a:prstGeom>
          <a:noFill/>
          <a:ln>
            <a:noFill/>
          </a:ln>
        </p:spPr>
      </p:pic>
      <p:pic>
        <p:nvPicPr>
          <p:cNvPr id="205" name="Google Shape;205;p23" title="Screenshot 2026-04-17 101805.png"/>
          <p:cNvPicPr preferRelativeResize="0"/>
          <p:nvPr/>
        </p:nvPicPr>
        <p:blipFill>
          <a:blip r:embed="rId6">
            <a:alphaModFix/>
          </a:blip>
          <a:stretch>
            <a:fillRect/>
          </a:stretch>
        </p:blipFill>
        <p:spPr>
          <a:xfrm>
            <a:off x="6904275" y="1661525"/>
            <a:ext cx="4408500" cy="2960400"/>
          </a:xfrm>
          <a:prstGeom prst="roundRect">
            <a:avLst>
              <a:gd fmla="val 16667" name="adj"/>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24"/>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Literature Summary &amp; Comparison</a:t>
            </a:r>
            <a:endParaRPr/>
          </a:p>
        </p:txBody>
      </p:sp>
      <p:sp>
        <p:nvSpPr>
          <p:cNvPr id="211" name="Google Shape;211;p24"/>
          <p:cNvSpPr/>
          <p:nvPr/>
        </p:nvSpPr>
        <p:spPr>
          <a:xfrm>
            <a:off x="571500" y="1552575"/>
            <a:ext cx="11049000" cy="5095577"/>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12" name="Google Shape;212;p24"/>
          <p:cNvGraphicFramePr/>
          <p:nvPr/>
        </p:nvGraphicFramePr>
        <p:xfrm>
          <a:off x="571500" y="1552575"/>
          <a:ext cx="3000000" cy="3000000"/>
        </p:xfrm>
        <a:graphic>
          <a:graphicData uri="http://schemas.openxmlformats.org/drawingml/2006/table">
            <a:tbl>
              <a:tblPr bandRow="1" firstRow="1">
                <a:noFill/>
                <a:tableStyleId>{F74426D4-E76B-4AAF-A0B1-2A0D733164C0}</a:tableStyleId>
              </a:tblPr>
              <a:tblGrid>
                <a:gridCol w="1792625"/>
                <a:gridCol w="2810025"/>
                <a:gridCol w="1955300"/>
                <a:gridCol w="4471975"/>
              </a:tblGrid>
              <a:tr h="1019125">
                <a:tc>
                  <a:txBody>
                    <a:bodyPr/>
                    <a:lstStyle/>
                    <a:p>
                      <a:pPr indent="0" lvl="0" marL="0" marR="0" rtl="0" algn="l">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Model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Performance (IoU)</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Key Limitation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1019125">
                <a:tc>
                  <a:txBody>
                    <a:bodyPr/>
                    <a:lstStyle/>
                    <a:p>
                      <a:pPr indent="0" lvl="0" marL="0" marR="0" rtl="0" algn="l">
                        <a:spcBef>
                          <a:spcPts val="0"/>
                        </a:spcBef>
                        <a:spcAft>
                          <a:spcPts val="0"/>
                        </a:spcAft>
                        <a:buNone/>
                      </a:pPr>
                      <a:r>
                        <a:rPr b="1" i="0" lang="en-US" sz="1350" u="none" cap="none" strike="noStrike">
                          <a:solidFill>
                            <a:srgbClr val="1E293B"/>
                          </a:solidFill>
                          <a:latin typeface="Inter"/>
                          <a:ea typeface="Inter"/>
                          <a:cs typeface="Inter"/>
                          <a:sym typeface="Inter"/>
                        </a:rPr>
                        <a:t>3D-R2N2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E293B"/>
                          </a:solidFill>
                          <a:latin typeface="Inter"/>
                          <a:ea typeface="Inter"/>
                          <a:cs typeface="Inter"/>
                          <a:sym typeface="Inter"/>
                        </a:rPr>
                        <a:t>3D-RNN (GRU)</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E293B"/>
                          </a:solidFill>
                          <a:latin typeface="Inter"/>
                          <a:ea typeface="Inter"/>
                          <a:cs typeface="Inter"/>
                          <a:sym typeface="Inter"/>
                        </a:rPr>
                        <a:t>Moderate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Permutation variant, poor long-sequence handling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019125">
                <a:tc>
                  <a:txBody>
                    <a:bodyPr/>
                    <a:lstStyle/>
                    <a:p>
                      <a:pPr indent="0" lvl="0" marL="0" marR="0" rtl="0" algn="l">
                        <a:spcBef>
                          <a:spcPts val="0"/>
                        </a:spcBef>
                        <a:spcAft>
                          <a:spcPts val="0"/>
                        </a:spcAft>
                        <a:buNone/>
                      </a:pPr>
                      <a:r>
                        <a:rPr b="1" i="0" lang="en-US" sz="1350" u="none" cap="none" strike="noStrike">
                          <a:solidFill>
                            <a:srgbClr val="1E293B"/>
                          </a:solidFill>
                          <a:latin typeface="Inter"/>
                          <a:ea typeface="Inter"/>
                          <a:cs typeface="Inter"/>
                          <a:sym typeface="Inter"/>
                        </a:rPr>
                        <a:t>AttSets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E293B"/>
                          </a:solidFill>
                          <a:latin typeface="Inter"/>
                          <a:ea typeface="Inter"/>
                          <a:cs typeface="Inter"/>
                          <a:sym typeface="Inter"/>
                        </a:rPr>
                        <a:t>Attentional Aggregation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E293B"/>
                          </a:solidFill>
                          <a:latin typeface="Inter"/>
                          <a:ea typeface="Inter"/>
                          <a:cs typeface="Inter"/>
                          <a:sym typeface="Inter"/>
                        </a:rPr>
                        <a:t>Good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Global attention ignores local high-frequency details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019125">
                <a:tc>
                  <a:txBody>
                    <a:bodyPr/>
                    <a:lstStyle/>
                    <a:p>
                      <a:pPr indent="0" lvl="0" marL="0" marR="0" rtl="0" algn="l">
                        <a:spcBef>
                          <a:spcPts val="0"/>
                        </a:spcBef>
                        <a:spcAft>
                          <a:spcPts val="0"/>
                        </a:spcAft>
                        <a:buNone/>
                      </a:pPr>
                      <a:r>
                        <a:rPr b="1" i="0" lang="en-US" sz="1350" u="none" cap="none" strike="noStrike">
                          <a:solidFill>
                            <a:srgbClr val="1E293B"/>
                          </a:solidFill>
                          <a:latin typeface="Inter"/>
                          <a:ea typeface="Inter"/>
                          <a:cs typeface="Inter"/>
                          <a:sym typeface="Inter"/>
                        </a:rPr>
                        <a:t>Pix2Vox++</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E293B"/>
                          </a:solidFill>
                          <a:latin typeface="Inter"/>
                          <a:ea typeface="Inter"/>
                          <a:cs typeface="Inter"/>
                          <a:sym typeface="Inter"/>
                        </a:rPr>
                        <a:t>Encoder-Decoder + U-Net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E293B"/>
                          </a:solidFill>
                          <a:latin typeface="Inter"/>
                          <a:ea typeface="Inter"/>
                          <a:cs typeface="Inter"/>
                          <a:sym typeface="Inter"/>
                        </a:rPr>
                        <a:t>High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Standard refiner smooths out complex boundaries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019125">
                <a:tc>
                  <a:txBody>
                    <a:bodyPr/>
                    <a:lstStyle/>
                    <a:p>
                      <a:pPr indent="0" lvl="0" marL="0" marR="0" rtl="0" algn="l">
                        <a:spcBef>
                          <a:spcPts val="0"/>
                        </a:spcBef>
                        <a:spcAft>
                          <a:spcPts val="0"/>
                        </a:spcAft>
                        <a:buNone/>
                      </a:pPr>
                      <a:r>
                        <a:rPr b="1" i="0" lang="en-US" sz="1350" u="none" cap="none" strike="noStrike">
                          <a:solidFill>
                            <a:srgbClr val="2563EB"/>
                          </a:solidFill>
                          <a:latin typeface="Inter"/>
                          <a:ea typeface="Inter"/>
                          <a:cs typeface="Inter"/>
                          <a:sym typeface="Inter"/>
                        </a:rPr>
                        <a:t>Proposed (Ours)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2563EB"/>
                          </a:solidFill>
                          <a:latin typeface="Inter"/>
                          <a:ea typeface="Inter"/>
                          <a:cs typeface="Inter"/>
                          <a:sym typeface="Inter"/>
                        </a:rPr>
                        <a:t>U-Net + Multi-Head Attention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0B981"/>
                          </a:solidFill>
                          <a:latin typeface="Inter"/>
                          <a:ea typeface="Inter"/>
                          <a:cs typeface="Inter"/>
                          <a:sym typeface="Inter"/>
                        </a:rPr>
                        <a:t>Highest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10B981"/>
                          </a:solidFill>
                          <a:latin typeface="Inter"/>
                          <a:ea typeface="Inter"/>
                          <a:cs typeface="Inter"/>
                          <a:sym typeface="Inter"/>
                        </a:rPr>
                        <a:t>Addresses boundary precision &amp; recall actively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13" name="Google Shape;213;p24"/>
          <p:cNvSpPr/>
          <p:nvPr/>
        </p:nvSpPr>
        <p:spPr>
          <a:xfrm>
            <a:off x="581025" y="2567880"/>
            <a:ext cx="1792634"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24"/>
          <p:cNvSpPr/>
          <p:nvPr/>
        </p:nvSpPr>
        <p:spPr>
          <a:xfrm>
            <a:off x="2373659" y="2567880"/>
            <a:ext cx="2810023"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24"/>
          <p:cNvSpPr/>
          <p:nvPr/>
        </p:nvSpPr>
        <p:spPr>
          <a:xfrm>
            <a:off x="5183683" y="2567880"/>
            <a:ext cx="1955303"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24"/>
          <p:cNvSpPr/>
          <p:nvPr/>
        </p:nvSpPr>
        <p:spPr>
          <a:xfrm>
            <a:off x="7138987" y="2567880"/>
            <a:ext cx="4471987"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24"/>
          <p:cNvSpPr/>
          <p:nvPr/>
        </p:nvSpPr>
        <p:spPr>
          <a:xfrm>
            <a:off x="581025" y="3592710"/>
            <a:ext cx="17926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24"/>
          <p:cNvSpPr/>
          <p:nvPr/>
        </p:nvSpPr>
        <p:spPr>
          <a:xfrm>
            <a:off x="2373659" y="3592710"/>
            <a:ext cx="281002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24"/>
          <p:cNvSpPr/>
          <p:nvPr/>
        </p:nvSpPr>
        <p:spPr>
          <a:xfrm>
            <a:off x="5183683" y="3592710"/>
            <a:ext cx="195530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24"/>
          <p:cNvSpPr/>
          <p:nvPr/>
        </p:nvSpPr>
        <p:spPr>
          <a:xfrm>
            <a:off x="7138987" y="3592710"/>
            <a:ext cx="44719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24"/>
          <p:cNvSpPr/>
          <p:nvPr/>
        </p:nvSpPr>
        <p:spPr>
          <a:xfrm>
            <a:off x="581025" y="4608016"/>
            <a:ext cx="17926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24"/>
          <p:cNvSpPr/>
          <p:nvPr/>
        </p:nvSpPr>
        <p:spPr>
          <a:xfrm>
            <a:off x="2373659" y="4608016"/>
            <a:ext cx="281002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24"/>
          <p:cNvSpPr/>
          <p:nvPr/>
        </p:nvSpPr>
        <p:spPr>
          <a:xfrm>
            <a:off x="5183683" y="4608016"/>
            <a:ext cx="195530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24"/>
          <p:cNvSpPr/>
          <p:nvPr/>
        </p:nvSpPr>
        <p:spPr>
          <a:xfrm>
            <a:off x="7138987" y="4608016"/>
            <a:ext cx="44719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24"/>
          <p:cNvSpPr/>
          <p:nvPr/>
        </p:nvSpPr>
        <p:spPr>
          <a:xfrm>
            <a:off x="581025" y="5623321"/>
            <a:ext cx="17926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24"/>
          <p:cNvSpPr/>
          <p:nvPr/>
        </p:nvSpPr>
        <p:spPr>
          <a:xfrm>
            <a:off x="2373659" y="5623321"/>
            <a:ext cx="281002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24"/>
          <p:cNvSpPr/>
          <p:nvPr/>
        </p:nvSpPr>
        <p:spPr>
          <a:xfrm>
            <a:off x="5183683" y="5623321"/>
            <a:ext cx="195530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24"/>
          <p:cNvSpPr/>
          <p:nvPr/>
        </p:nvSpPr>
        <p:spPr>
          <a:xfrm>
            <a:off x="7138987" y="5623321"/>
            <a:ext cx="44719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pic>
        <p:nvPicPr>
          <p:cNvPr descr="image.png" id="233" name="Google Shape;233;p25"/>
          <p:cNvPicPr preferRelativeResize="0"/>
          <p:nvPr/>
        </p:nvPicPr>
        <p:blipFill rotWithShape="1">
          <a:blip r:embed="rId3">
            <a:alphaModFix/>
          </a:blip>
          <a:srcRect b="0" l="0" r="0" t="0"/>
          <a:stretch/>
        </p:blipFill>
        <p:spPr>
          <a:xfrm>
            <a:off x="571500" y="2350740"/>
            <a:ext cx="5334000" cy="3137445"/>
          </a:xfrm>
          <a:prstGeom prst="rect">
            <a:avLst/>
          </a:prstGeom>
          <a:noFill/>
          <a:ln>
            <a:noFill/>
          </a:ln>
        </p:spPr>
      </p:pic>
      <p:pic>
        <p:nvPicPr>
          <p:cNvPr descr="image.png" id="234" name="Google Shape;234;p25"/>
          <p:cNvPicPr preferRelativeResize="0"/>
          <p:nvPr/>
        </p:nvPicPr>
        <p:blipFill rotWithShape="1">
          <a:blip r:embed="rId4">
            <a:alphaModFix/>
          </a:blip>
          <a:srcRect b="0" l="0" r="0" t="0"/>
          <a:stretch/>
        </p:blipFill>
        <p:spPr>
          <a:xfrm>
            <a:off x="6286500" y="2350740"/>
            <a:ext cx="5334000" cy="3137445"/>
          </a:xfrm>
          <a:prstGeom prst="rect">
            <a:avLst/>
          </a:prstGeom>
          <a:noFill/>
          <a:ln>
            <a:noFill/>
          </a:ln>
        </p:spPr>
      </p:pic>
      <p:sp>
        <p:nvSpPr>
          <p:cNvPr id="235" name="Google Shape;235;p25"/>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Identified Research Gaps</a:t>
            </a:r>
            <a:endParaRPr/>
          </a:p>
        </p:txBody>
      </p:sp>
      <p:sp>
        <p:nvSpPr>
          <p:cNvPr id="236" name="Google Shape;236;p25"/>
          <p:cNvSpPr txBox="1"/>
          <p:nvPr/>
        </p:nvSpPr>
        <p:spPr>
          <a:xfrm>
            <a:off x="962025" y="2741265"/>
            <a:ext cx="4552950" cy="762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6000" u="none" cap="none" strike="noStrike">
                <a:solidFill>
                  <a:srgbClr val="2563EB"/>
                </a:solidFill>
                <a:latin typeface="Poppins"/>
                <a:ea typeface="Poppins"/>
                <a:cs typeface="Poppins"/>
                <a:sym typeface="Poppins"/>
              </a:rPr>
              <a:t>1</a:t>
            </a:r>
            <a:endParaRPr/>
          </a:p>
        </p:txBody>
      </p:sp>
      <p:sp>
        <p:nvSpPr>
          <p:cNvPr id="237" name="Google Shape;237;p25"/>
          <p:cNvSpPr txBox="1"/>
          <p:nvPr/>
        </p:nvSpPr>
        <p:spPr>
          <a:xfrm>
            <a:off x="962025" y="3693765"/>
            <a:ext cx="4552950"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020617"/>
                </a:solidFill>
                <a:latin typeface="Inter SemiBold"/>
                <a:ea typeface="Inter SemiBold"/>
                <a:cs typeface="Inter SemiBold"/>
                <a:sym typeface="Inter SemiBold"/>
              </a:rPr>
              <a:t>U-Net Smoothing Effect</a:t>
            </a:r>
            <a:endParaRPr/>
          </a:p>
        </p:txBody>
      </p:sp>
      <p:sp>
        <p:nvSpPr>
          <p:cNvPr id="238" name="Google Shape;238;p25"/>
          <p:cNvSpPr txBox="1"/>
          <p:nvPr/>
        </p:nvSpPr>
        <p:spPr>
          <a:xfrm>
            <a:off x="962025" y="4131915"/>
            <a:ext cx="4552950"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64748B"/>
                </a:solidFill>
                <a:latin typeface="Inter"/>
                <a:ea typeface="Inter"/>
                <a:cs typeface="Inter"/>
                <a:sym typeface="Inter"/>
              </a:rPr>
              <a:t>Conventional 3D U-Net refiners inadvertently blur high-frequency spatial features (sharp edges) during upsampling operations.</a:t>
            </a:r>
            <a:endParaRPr/>
          </a:p>
        </p:txBody>
      </p:sp>
      <p:sp>
        <p:nvSpPr>
          <p:cNvPr id="239" name="Google Shape;239;p25"/>
          <p:cNvSpPr txBox="1"/>
          <p:nvPr/>
        </p:nvSpPr>
        <p:spPr>
          <a:xfrm>
            <a:off x="6677025" y="2741265"/>
            <a:ext cx="4552950" cy="762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6000" u="none" cap="none" strike="noStrike">
                <a:solidFill>
                  <a:srgbClr val="2563EB"/>
                </a:solidFill>
                <a:latin typeface="Poppins"/>
                <a:ea typeface="Poppins"/>
                <a:cs typeface="Poppins"/>
                <a:sym typeface="Poppins"/>
              </a:rPr>
              <a:t>2</a:t>
            </a:r>
            <a:endParaRPr/>
          </a:p>
        </p:txBody>
      </p:sp>
      <p:sp>
        <p:nvSpPr>
          <p:cNvPr id="240" name="Google Shape;240;p25"/>
          <p:cNvSpPr txBox="1"/>
          <p:nvPr/>
        </p:nvSpPr>
        <p:spPr>
          <a:xfrm>
            <a:off x="6677025" y="3693765"/>
            <a:ext cx="4552950"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020617"/>
                </a:solidFill>
                <a:latin typeface="Inter SemiBold"/>
                <a:ea typeface="Inter SemiBold"/>
                <a:cs typeface="Inter SemiBold"/>
                <a:sym typeface="Inter SemiBold"/>
              </a:rPr>
              <a:t>Lack of Targeted Focus</a:t>
            </a:r>
            <a:endParaRPr/>
          </a:p>
        </p:txBody>
      </p:sp>
      <p:sp>
        <p:nvSpPr>
          <p:cNvPr id="241" name="Google Shape;241;p25"/>
          <p:cNvSpPr txBox="1"/>
          <p:nvPr/>
        </p:nvSpPr>
        <p:spPr>
          <a:xfrm>
            <a:off x="6677025" y="4131915"/>
            <a:ext cx="4552950"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64748B"/>
                </a:solidFill>
                <a:latin typeface="Inter"/>
                <a:ea typeface="Inter"/>
                <a:cs typeface="Inter"/>
                <a:sym typeface="Inter"/>
              </a:rPr>
              <a:t>Current models treat all voxel regions equally, failing to allocate computational resources to dense, complex boundary regions.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26"/>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The Addressed Problem</a:t>
            </a:r>
            <a:endParaRPr/>
          </a:p>
        </p:txBody>
      </p:sp>
      <p:sp>
        <p:nvSpPr>
          <p:cNvPr id="247" name="Google Shape;247;p26"/>
          <p:cNvSpPr txBox="1"/>
          <p:nvPr/>
        </p:nvSpPr>
        <p:spPr>
          <a:xfrm>
            <a:off x="1400175" y="1552575"/>
            <a:ext cx="93918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248" name="Google Shape;248;p26"/>
          <p:cNvSpPr txBox="1"/>
          <p:nvPr/>
        </p:nvSpPr>
        <p:spPr>
          <a:xfrm>
            <a:off x="1781175" y="2805112"/>
            <a:ext cx="9010650" cy="1543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2700" u="none" cap="none" strike="noStrike">
                <a:solidFill>
                  <a:srgbClr val="020617"/>
                </a:solidFill>
                <a:latin typeface="Poppins Medium"/>
                <a:ea typeface="Poppins Medium"/>
                <a:cs typeface="Poppins Medium"/>
                <a:sym typeface="Poppins Medium"/>
              </a:rPr>
              <a:t>How can we architect a model to accurately capture intricate details at object boundaries without introducing low-frequency noise?</a:t>
            </a:r>
            <a:endParaRPr/>
          </a:p>
        </p:txBody>
      </p:sp>
      <p:sp>
        <p:nvSpPr>
          <p:cNvPr id="249" name="Google Shape;249;p26"/>
          <p:cNvSpPr/>
          <p:nvPr/>
        </p:nvSpPr>
        <p:spPr>
          <a:xfrm>
            <a:off x="1400175" y="2805112"/>
            <a:ext cx="57150" cy="154305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26"/>
          <p:cNvSpPr txBox="1"/>
          <p:nvPr/>
        </p:nvSpPr>
        <p:spPr>
          <a:xfrm>
            <a:off x="1781175" y="4729162"/>
            <a:ext cx="90106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64748B"/>
                </a:solidFill>
                <a:latin typeface="Inter Medium"/>
                <a:ea typeface="Inter Medium"/>
                <a:cs typeface="Inter Medium"/>
                <a:sym typeface="Inter Medium"/>
              </a:rPr>
              <a:t>Core Project Objective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27"/>
          <p:cNvSpPr txBox="1"/>
          <p:nvPr/>
        </p:nvSpPr>
        <p:spPr>
          <a:xfrm>
            <a:off x="2785586" y="2384077"/>
            <a:ext cx="6620827" cy="8096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4200" u="none" cap="none" strike="noStrike">
                <a:solidFill>
                  <a:srgbClr val="020617"/>
                </a:solidFill>
                <a:latin typeface="Poppins SemiBold"/>
                <a:ea typeface="Poppins SemiBold"/>
                <a:cs typeface="Poppins SemiBold"/>
                <a:sym typeface="Poppins SemiBold"/>
              </a:rPr>
              <a:t>Proposed Methodology</a:t>
            </a:r>
            <a:endParaRPr/>
          </a:p>
        </p:txBody>
      </p:sp>
      <p:sp>
        <p:nvSpPr>
          <p:cNvPr id="256" name="Google Shape;256;p27"/>
          <p:cNvSpPr txBox="1"/>
          <p:nvPr/>
        </p:nvSpPr>
        <p:spPr>
          <a:xfrm>
            <a:off x="3752850" y="3336577"/>
            <a:ext cx="46863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64748B"/>
                </a:solidFill>
                <a:latin typeface="Inter"/>
                <a:ea typeface="Inter"/>
                <a:cs typeface="Inter"/>
                <a:sym typeface="Inter"/>
              </a:rPr>
              <a:t>Architecture and algorithmic improvements</a:t>
            </a:r>
            <a:endParaRPr/>
          </a:p>
        </p:txBody>
      </p:sp>
      <p:sp>
        <p:nvSpPr>
          <p:cNvPr id="257" name="Google Shape;257;p27"/>
          <p:cNvSpPr/>
          <p:nvPr/>
        </p:nvSpPr>
        <p:spPr>
          <a:xfrm>
            <a:off x="5715000" y="4130873"/>
            <a:ext cx="762000" cy="5715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 name="Shape 261"/>
        <p:cNvGrpSpPr/>
        <p:nvPr/>
      </p:nvGrpSpPr>
      <p:grpSpPr>
        <a:xfrm>
          <a:off x="0" y="0"/>
          <a:ext cx="0" cy="0"/>
          <a:chOff x="0" y="0"/>
          <a:chExt cx="0" cy="0"/>
        </a:xfrm>
      </p:grpSpPr>
      <p:sp>
        <p:nvSpPr>
          <p:cNvPr id="262" name="Google Shape;262;p28"/>
          <p:cNvSpPr txBox="1"/>
          <p:nvPr/>
        </p:nvSpPr>
        <p:spPr>
          <a:xfrm>
            <a:off x="571500" y="571500"/>
            <a:ext cx="11601600" cy="60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Proposed Approach: MA-R</a:t>
            </a:r>
            <a:endParaRPr/>
          </a:p>
        </p:txBody>
      </p:sp>
      <p:sp>
        <p:nvSpPr>
          <p:cNvPr id="263" name="Google Shape;263;p28"/>
          <p:cNvSpPr txBox="1"/>
          <p:nvPr/>
        </p:nvSpPr>
        <p:spPr>
          <a:xfrm>
            <a:off x="571500" y="1996529"/>
            <a:ext cx="5500800" cy="371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2563EB"/>
                </a:solidFill>
                <a:latin typeface="Poppins SemiBold"/>
                <a:ea typeface="Poppins SemiBold"/>
                <a:cs typeface="Poppins SemiBold"/>
                <a:sym typeface="Poppins SemiBold"/>
              </a:rPr>
              <a:t>Multi-Head Attention Refiner</a:t>
            </a:r>
            <a:endParaRPr/>
          </a:p>
        </p:txBody>
      </p:sp>
      <p:sp>
        <p:nvSpPr>
          <p:cNvPr id="264" name="Google Shape;264;p28"/>
          <p:cNvSpPr txBox="1"/>
          <p:nvPr/>
        </p:nvSpPr>
        <p:spPr>
          <a:xfrm>
            <a:off x="571500" y="2510879"/>
            <a:ext cx="5238900" cy="8727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We propose integrating a Multi-Head Self-Attention mechanism directly into the bottleneck of the 3D U-Net Refiner module.</a:t>
            </a:r>
            <a:endParaRPr/>
          </a:p>
        </p:txBody>
      </p:sp>
      <p:sp>
        <p:nvSpPr>
          <p:cNvPr id="265" name="Google Shape;265;p28"/>
          <p:cNvSpPr txBox="1"/>
          <p:nvPr/>
        </p:nvSpPr>
        <p:spPr>
          <a:xfrm>
            <a:off x="571500" y="3605259"/>
            <a:ext cx="5238900" cy="12051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This targeted attention allows the network to evaluate the spatial context globally while selectively amplifying high-frequency boundary data, effectively retaining sharp edges and suppressing redundant background noise.</a:t>
            </a:r>
            <a:endParaRPr/>
          </a:p>
        </p:txBody>
      </p:sp>
      <p:sp>
        <p:nvSpPr>
          <p:cNvPr id="266" name="Google Shape;266;p28"/>
          <p:cNvSpPr txBox="1"/>
          <p:nvPr/>
        </p:nvSpPr>
        <p:spPr>
          <a:xfrm>
            <a:off x="6781800" y="3529012"/>
            <a:ext cx="44388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a:p>
        </p:txBody>
      </p:sp>
      <p:pic>
        <p:nvPicPr>
          <p:cNvPr id="267" name="Google Shape;267;p28" title="Screenshot 2026-04-17 104750.png"/>
          <p:cNvPicPr preferRelativeResize="0"/>
          <p:nvPr/>
        </p:nvPicPr>
        <p:blipFill>
          <a:blip r:embed="rId3">
            <a:alphaModFix/>
          </a:blip>
          <a:stretch>
            <a:fillRect/>
          </a:stretch>
        </p:blipFill>
        <p:spPr>
          <a:xfrm>
            <a:off x="5949650" y="1834226"/>
            <a:ext cx="5724525" cy="3149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pic>
        <p:nvPicPr>
          <p:cNvPr descr="image.png" id="272" name="Google Shape;272;p29"/>
          <p:cNvPicPr preferRelativeResize="0"/>
          <p:nvPr/>
        </p:nvPicPr>
        <p:blipFill rotWithShape="1">
          <a:blip r:embed="rId3">
            <a:alphaModFix/>
          </a:blip>
          <a:srcRect b="0" l="0" r="0" t="0"/>
          <a:stretch/>
        </p:blipFill>
        <p:spPr>
          <a:xfrm>
            <a:off x="571500" y="1552575"/>
            <a:ext cx="3492549" cy="3621285"/>
          </a:xfrm>
          <a:prstGeom prst="rect">
            <a:avLst/>
          </a:prstGeom>
          <a:noFill/>
          <a:ln>
            <a:noFill/>
          </a:ln>
        </p:spPr>
      </p:pic>
      <p:pic>
        <p:nvPicPr>
          <p:cNvPr descr="image.png" id="273" name="Google Shape;273;p29"/>
          <p:cNvPicPr preferRelativeResize="0"/>
          <p:nvPr/>
        </p:nvPicPr>
        <p:blipFill rotWithShape="1">
          <a:blip r:embed="rId4">
            <a:alphaModFix/>
          </a:blip>
          <a:srcRect b="0" l="0" r="0" t="0"/>
          <a:stretch/>
        </p:blipFill>
        <p:spPr>
          <a:xfrm>
            <a:off x="4349799" y="1552575"/>
            <a:ext cx="3492549" cy="3621285"/>
          </a:xfrm>
          <a:prstGeom prst="rect">
            <a:avLst/>
          </a:prstGeom>
          <a:noFill/>
          <a:ln>
            <a:noFill/>
          </a:ln>
        </p:spPr>
      </p:pic>
      <p:pic>
        <p:nvPicPr>
          <p:cNvPr descr="image.png" id="274" name="Google Shape;274;p29"/>
          <p:cNvPicPr preferRelativeResize="0"/>
          <p:nvPr/>
        </p:nvPicPr>
        <p:blipFill rotWithShape="1">
          <a:blip r:embed="rId5">
            <a:alphaModFix/>
          </a:blip>
          <a:srcRect b="0" l="0" r="0" t="0"/>
          <a:stretch/>
        </p:blipFill>
        <p:spPr>
          <a:xfrm>
            <a:off x="8128099" y="1552575"/>
            <a:ext cx="3492549" cy="3621285"/>
          </a:xfrm>
          <a:prstGeom prst="rect">
            <a:avLst/>
          </a:prstGeom>
          <a:noFill/>
          <a:ln>
            <a:noFill/>
          </a:ln>
        </p:spPr>
      </p:pic>
      <p:sp>
        <p:nvSpPr>
          <p:cNvPr id="275" name="Google Shape;275;p29"/>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Architecture Workflow</a:t>
            </a:r>
            <a:endParaRPr/>
          </a:p>
        </p:txBody>
      </p:sp>
      <p:pic>
        <p:nvPicPr>
          <p:cNvPr descr="image.png" id="276" name="Google Shape;276;p29"/>
          <p:cNvPicPr preferRelativeResize="0"/>
          <p:nvPr/>
        </p:nvPicPr>
        <p:blipFill rotWithShape="1">
          <a:blip r:embed="rId6">
            <a:alphaModFix/>
          </a:blip>
          <a:srcRect b="0" l="0" r="0" t="0"/>
          <a:stretch/>
        </p:blipFill>
        <p:spPr>
          <a:xfrm>
            <a:off x="1960512" y="1943100"/>
            <a:ext cx="714375" cy="847725"/>
          </a:xfrm>
          <a:prstGeom prst="rect">
            <a:avLst/>
          </a:prstGeom>
          <a:noFill/>
          <a:ln>
            <a:noFill/>
          </a:ln>
        </p:spPr>
      </p:pic>
      <p:sp>
        <p:nvSpPr>
          <p:cNvPr id="277" name="Google Shape;277;p29"/>
          <p:cNvSpPr txBox="1"/>
          <p:nvPr/>
        </p:nvSpPr>
        <p:spPr>
          <a:xfrm>
            <a:off x="1667619" y="3028950"/>
            <a:ext cx="1300162"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950" u="none" cap="none" strike="noStrike">
                <a:solidFill>
                  <a:srgbClr val="020617"/>
                </a:solidFill>
                <a:latin typeface="Poppins SemiBold"/>
                <a:ea typeface="Poppins SemiBold"/>
                <a:cs typeface="Poppins SemiBold"/>
                <a:sym typeface="Poppins SemiBold"/>
              </a:rPr>
              <a:t>1. Encoder</a:t>
            </a:r>
            <a:endParaRPr/>
          </a:p>
        </p:txBody>
      </p:sp>
      <p:sp>
        <p:nvSpPr>
          <p:cNvPr id="278" name="Google Shape;278;p29"/>
          <p:cNvSpPr txBox="1"/>
          <p:nvPr/>
        </p:nvSpPr>
        <p:spPr>
          <a:xfrm>
            <a:off x="866775" y="3543300"/>
            <a:ext cx="2901999"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1E293B"/>
                </a:solidFill>
                <a:latin typeface="Inter"/>
                <a:ea typeface="Inter"/>
                <a:cs typeface="Inter"/>
                <a:sym typeface="Inter"/>
              </a:rPr>
              <a:t>A ResNet-18 style CNN encoder extracts deep feature maps from the 224x224 input multi-view images.</a:t>
            </a:r>
            <a:endParaRPr/>
          </a:p>
        </p:txBody>
      </p:sp>
      <p:pic>
        <p:nvPicPr>
          <p:cNvPr descr="image.png" id="279" name="Google Shape;279;p29"/>
          <p:cNvPicPr preferRelativeResize="0"/>
          <p:nvPr/>
        </p:nvPicPr>
        <p:blipFill rotWithShape="1">
          <a:blip r:embed="rId7">
            <a:alphaModFix/>
          </a:blip>
          <a:srcRect b="0" l="0" r="0" t="0"/>
          <a:stretch/>
        </p:blipFill>
        <p:spPr>
          <a:xfrm>
            <a:off x="5691187" y="1943100"/>
            <a:ext cx="809625" cy="847725"/>
          </a:xfrm>
          <a:prstGeom prst="rect">
            <a:avLst/>
          </a:prstGeom>
          <a:noFill/>
          <a:ln>
            <a:noFill/>
          </a:ln>
        </p:spPr>
      </p:pic>
      <p:sp>
        <p:nvSpPr>
          <p:cNvPr id="280" name="Google Shape;280;p29"/>
          <p:cNvSpPr txBox="1"/>
          <p:nvPr/>
        </p:nvSpPr>
        <p:spPr>
          <a:xfrm>
            <a:off x="4800838" y="3028950"/>
            <a:ext cx="2590323"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950" u="none" cap="none" strike="noStrike">
                <a:solidFill>
                  <a:srgbClr val="020617"/>
                </a:solidFill>
                <a:latin typeface="Poppins SemiBold"/>
                <a:ea typeface="Poppins SemiBold"/>
                <a:cs typeface="Poppins SemiBold"/>
                <a:sym typeface="Poppins SemiBold"/>
              </a:rPr>
              <a:t>2. Decoder &amp; Fusion</a:t>
            </a:r>
            <a:endParaRPr/>
          </a:p>
        </p:txBody>
      </p:sp>
      <p:sp>
        <p:nvSpPr>
          <p:cNvPr id="281" name="Google Shape;281;p29"/>
          <p:cNvSpPr txBox="1"/>
          <p:nvPr/>
        </p:nvSpPr>
        <p:spPr>
          <a:xfrm>
            <a:off x="4645074" y="3543300"/>
            <a:ext cx="2901999"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1E293B"/>
                </a:solidFill>
                <a:latin typeface="Inter"/>
                <a:ea typeface="Inter"/>
                <a:cs typeface="Inter"/>
                <a:sym typeface="Inter"/>
              </a:rPr>
              <a:t>3D Deconvolution transforms features into coarse volumes, fused via multi-scale context-aware averaging.</a:t>
            </a:r>
            <a:endParaRPr/>
          </a:p>
        </p:txBody>
      </p:sp>
      <p:pic>
        <p:nvPicPr>
          <p:cNvPr descr="image.png" id="282" name="Google Shape;282;p29"/>
          <p:cNvPicPr preferRelativeResize="0"/>
          <p:nvPr/>
        </p:nvPicPr>
        <p:blipFill rotWithShape="1">
          <a:blip r:embed="rId8">
            <a:alphaModFix/>
          </a:blip>
          <a:srcRect b="0" l="0" r="0" t="0"/>
          <a:stretch/>
        </p:blipFill>
        <p:spPr>
          <a:xfrm>
            <a:off x="9469487" y="1943100"/>
            <a:ext cx="809625" cy="847725"/>
          </a:xfrm>
          <a:prstGeom prst="rect">
            <a:avLst/>
          </a:prstGeom>
          <a:noFill/>
          <a:ln>
            <a:noFill/>
          </a:ln>
        </p:spPr>
      </p:pic>
      <p:sp>
        <p:nvSpPr>
          <p:cNvPr id="283" name="Google Shape;283;p29"/>
          <p:cNvSpPr txBox="1"/>
          <p:nvPr/>
        </p:nvSpPr>
        <p:spPr>
          <a:xfrm>
            <a:off x="8864173" y="3028950"/>
            <a:ext cx="2020252"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950" u="none" cap="none" strike="noStrike">
                <a:solidFill>
                  <a:srgbClr val="020617"/>
                </a:solidFill>
                <a:latin typeface="Poppins SemiBold"/>
                <a:ea typeface="Poppins SemiBold"/>
                <a:cs typeface="Poppins SemiBold"/>
                <a:sym typeface="Poppins SemiBold"/>
              </a:rPr>
              <a:t>3. MA-R Refiner</a:t>
            </a:r>
            <a:endParaRPr/>
          </a:p>
        </p:txBody>
      </p:sp>
      <p:sp>
        <p:nvSpPr>
          <p:cNvPr id="284" name="Google Shape;284;p29"/>
          <p:cNvSpPr txBox="1"/>
          <p:nvPr/>
        </p:nvSpPr>
        <p:spPr>
          <a:xfrm>
            <a:off x="8423374" y="3543300"/>
            <a:ext cx="2901999"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1E293B"/>
                </a:solidFill>
                <a:latin typeface="Inter"/>
                <a:ea typeface="Inter"/>
                <a:cs typeface="Inter"/>
                <a:sym typeface="Inter"/>
              </a:rPr>
              <a:t>The U-Net processes the fused volume, passing the bottleneck through Multi-Head Attention for final 32³ output.</a:t>
            </a:r>
            <a:endParaRPr/>
          </a:p>
        </p:txBody>
      </p:sp>
      <p:pic>
        <p:nvPicPr>
          <p:cNvPr descr="image.png" id="285" name="Google Shape;285;p29"/>
          <p:cNvPicPr preferRelativeResize="0"/>
          <p:nvPr/>
        </p:nvPicPr>
        <p:blipFill rotWithShape="1">
          <a:blip r:embed="rId9">
            <a:alphaModFix/>
          </a:blip>
          <a:srcRect b="0" l="0" r="0" t="0"/>
          <a:stretch/>
        </p:blipFill>
        <p:spPr>
          <a:xfrm>
            <a:off x="2151012" y="2171700"/>
            <a:ext cx="333375" cy="381000"/>
          </a:xfrm>
          <a:prstGeom prst="rect">
            <a:avLst/>
          </a:prstGeom>
          <a:noFill/>
          <a:ln>
            <a:noFill/>
          </a:ln>
        </p:spPr>
      </p:pic>
      <p:pic>
        <p:nvPicPr>
          <p:cNvPr descr="image.png" id="286" name="Google Shape;286;p29"/>
          <p:cNvPicPr preferRelativeResize="0"/>
          <p:nvPr/>
        </p:nvPicPr>
        <p:blipFill rotWithShape="1">
          <a:blip r:embed="rId10">
            <a:alphaModFix/>
          </a:blip>
          <a:srcRect b="0" l="0" r="0" t="0"/>
          <a:stretch/>
        </p:blipFill>
        <p:spPr>
          <a:xfrm>
            <a:off x="5881687" y="2171700"/>
            <a:ext cx="428625" cy="381000"/>
          </a:xfrm>
          <a:prstGeom prst="rect">
            <a:avLst/>
          </a:prstGeom>
          <a:noFill/>
          <a:ln>
            <a:noFill/>
          </a:ln>
        </p:spPr>
      </p:pic>
      <p:pic>
        <p:nvPicPr>
          <p:cNvPr descr="image.png" id="287" name="Google Shape;287;p29"/>
          <p:cNvPicPr preferRelativeResize="0"/>
          <p:nvPr/>
        </p:nvPicPr>
        <p:blipFill rotWithShape="1">
          <a:blip r:embed="rId11">
            <a:alphaModFix/>
          </a:blip>
          <a:srcRect b="0" l="0" r="0" t="0"/>
          <a:stretch/>
        </p:blipFill>
        <p:spPr>
          <a:xfrm>
            <a:off x="9659987" y="2171700"/>
            <a:ext cx="428625" cy="38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pic>
        <p:nvPicPr>
          <p:cNvPr descr="image.png" id="292" name="Google Shape;292;p30"/>
          <p:cNvPicPr preferRelativeResize="0"/>
          <p:nvPr/>
        </p:nvPicPr>
        <p:blipFill rotWithShape="1">
          <a:blip r:embed="rId3">
            <a:alphaModFix/>
          </a:blip>
          <a:srcRect b="0" l="0" r="0" t="0"/>
          <a:stretch/>
        </p:blipFill>
        <p:spPr>
          <a:xfrm>
            <a:off x="571500" y="3211264"/>
            <a:ext cx="11049000" cy="1304032"/>
          </a:xfrm>
          <a:prstGeom prst="rect">
            <a:avLst/>
          </a:prstGeom>
          <a:noFill/>
          <a:ln>
            <a:noFill/>
          </a:ln>
        </p:spPr>
      </p:pic>
      <p:sp>
        <p:nvSpPr>
          <p:cNvPr id="293" name="Google Shape;293;p30"/>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Attention Formula Used</a:t>
            </a:r>
            <a:endParaRPr/>
          </a:p>
        </p:txBody>
      </p:sp>
      <p:sp>
        <p:nvSpPr>
          <p:cNvPr id="294" name="Google Shape;294;p30"/>
          <p:cNvSpPr txBox="1"/>
          <p:nvPr/>
        </p:nvSpPr>
        <p:spPr>
          <a:xfrm>
            <a:off x="1271587" y="2525464"/>
            <a:ext cx="9648825"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1E293B"/>
                </a:solidFill>
                <a:latin typeface="Inter Medium"/>
                <a:ea typeface="Inter Medium"/>
                <a:cs typeface="Inter Medium"/>
                <a:sym typeface="Inter Medium"/>
              </a:rPr>
              <a:t>The Refiner computes Attention over 3D voxel regions using Query (Q), Key (K), and Value (V) projections:</a:t>
            </a:r>
            <a:endParaRPr/>
          </a:p>
        </p:txBody>
      </p:sp>
      <p:sp>
        <p:nvSpPr>
          <p:cNvPr id="295" name="Google Shape;295;p30"/>
          <p:cNvSpPr txBox="1"/>
          <p:nvPr/>
        </p:nvSpPr>
        <p:spPr>
          <a:xfrm>
            <a:off x="1438275" y="4896296"/>
            <a:ext cx="931545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64748B"/>
                </a:solidFill>
                <a:latin typeface="Inter"/>
                <a:ea typeface="Inter"/>
                <a:cs typeface="Inter"/>
                <a:sym typeface="Inter"/>
              </a:rPr>
              <a:t>This scaling mechanism prevents vanishing gradients when dealing with massive 3D flattened vector dimensions.</a:t>
            </a:r>
            <a:endParaRPr/>
          </a:p>
        </p:txBody>
      </p:sp>
      <p:pic>
        <p:nvPicPr>
          <p:cNvPr descr="image.png" id="296" name="Google Shape;296;p30"/>
          <p:cNvPicPr preferRelativeResize="0"/>
          <p:nvPr/>
        </p:nvPicPr>
        <p:blipFill rotWithShape="1">
          <a:blip r:embed="rId4">
            <a:alphaModFix/>
          </a:blip>
          <a:srcRect b="0" l="0" r="0" t="0"/>
          <a:stretch/>
        </p:blipFill>
        <p:spPr>
          <a:xfrm>
            <a:off x="3680370" y="3601789"/>
            <a:ext cx="4831258" cy="52298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31"/>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Technologies &amp; Tools</a:t>
            </a:r>
            <a:endParaRPr/>
          </a:p>
        </p:txBody>
      </p:sp>
      <p:sp>
        <p:nvSpPr>
          <p:cNvPr id="302" name="Google Shape;302;p31"/>
          <p:cNvSpPr txBox="1"/>
          <p:nvPr/>
        </p:nvSpPr>
        <p:spPr>
          <a:xfrm>
            <a:off x="952500" y="1664047"/>
            <a:ext cx="4857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E293B"/>
                </a:solidFill>
                <a:latin typeface="Inter"/>
                <a:ea typeface="Inter"/>
                <a:cs typeface="Inter"/>
                <a:sym typeface="Inter"/>
              </a:rPr>
              <a:t> </a:t>
            </a:r>
            <a:r>
              <a:rPr b="0" i="0" lang="en-US" sz="1350" u="none" cap="none" strike="noStrike">
                <a:solidFill>
                  <a:srgbClr val="020617"/>
                </a:solidFill>
                <a:latin typeface="Inter SemiBold"/>
                <a:ea typeface="Inter SemiBold"/>
                <a:cs typeface="Inter SemiBold"/>
                <a:sym typeface="Inter SemiBold"/>
              </a:rPr>
              <a:t>Deep Learning:</a:t>
            </a:r>
            <a:r>
              <a:rPr b="0" i="0" lang="en-US" sz="1350" u="none" cap="none" strike="noStrike">
                <a:solidFill>
                  <a:srgbClr val="1E293B"/>
                </a:solidFill>
                <a:latin typeface="Inter"/>
                <a:ea typeface="Inter"/>
                <a:cs typeface="Inter"/>
                <a:sym typeface="Inter"/>
              </a:rPr>
              <a:t> PyTorch (Model, Encoder, Decoder, Refiner)</a:t>
            </a:r>
            <a:endParaRPr/>
          </a:p>
        </p:txBody>
      </p:sp>
      <p:sp>
        <p:nvSpPr>
          <p:cNvPr id="303" name="Google Shape;303;p31"/>
          <p:cNvSpPr txBox="1"/>
          <p:nvPr/>
        </p:nvSpPr>
        <p:spPr>
          <a:xfrm>
            <a:off x="952500" y="2450752"/>
            <a:ext cx="4857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Interactive UI:</a:t>
            </a:r>
            <a:r>
              <a:rPr b="0" i="0" lang="en-US" sz="1350" u="none" cap="none" strike="noStrike">
                <a:solidFill>
                  <a:srgbClr val="1E293B"/>
                </a:solidFill>
                <a:latin typeface="Inter"/>
                <a:ea typeface="Inter"/>
                <a:cs typeface="Inter"/>
                <a:sym typeface="Inter"/>
              </a:rPr>
              <a:t> Streamlit (Web interface for model inference)</a:t>
            </a:r>
            <a:endParaRPr/>
          </a:p>
        </p:txBody>
      </p:sp>
      <p:sp>
        <p:nvSpPr>
          <p:cNvPr id="304" name="Google Shape;304;p31"/>
          <p:cNvSpPr txBox="1"/>
          <p:nvPr/>
        </p:nvSpPr>
        <p:spPr>
          <a:xfrm>
            <a:off x="952500" y="3237458"/>
            <a:ext cx="48577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3D Visualization:</a:t>
            </a:r>
            <a:r>
              <a:rPr b="0" i="0" lang="en-US" sz="1350" u="none" cap="none" strike="noStrike">
                <a:solidFill>
                  <a:srgbClr val="1E293B"/>
                </a:solidFill>
                <a:latin typeface="Inter"/>
                <a:ea typeface="Inter"/>
                <a:cs typeface="Inter"/>
                <a:sym typeface="Inter"/>
              </a:rPr>
              <a:t> Plotly Graph Objects</a:t>
            </a:r>
            <a:endParaRPr/>
          </a:p>
        </p:txBody>
      </p:sp>
      <p:sp>
        <p:nvSpPr>
          <p:cNvPr id="305" name="Google Shape;305;p31"/>
          <p:cNvSpPr txBox="1"/>
          <p:nvPr/>
        </p:nvSpPr>
        <p:spPr>
          <a:xfrm>
            <a:off x="952500" y="3749873"/>
            <a:ext cx="48579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Hardware Stack:</a:t>
            </a:r>
            <a:r>
              <a:rPr b="0" i="0" lang="en-US" sz="1350" u="none" cap="none" strike="noStrike">
                <a:solidFill>
                  <a:srgbClr val="1E293B"/>
                </a:solidFill>
                <a:latin typeface="Inter"/>
                <a:ea typeface="Inter"/>
                <a:cs typeface="Inter"/>
                <a:sym typeface="Inter"/>
              </a:rPr>
              <a:t> Intel i7 14th Gen, 16GB RAM</a:t>
            </a:r>
            <a:endParaRPr/>
          </a:p>
        </p:txBody>
      </p:sp>
      <p:sp>
        <p:nvSpPr>
          <p:cNvPr id="306" name="Google Shape;306;p31"/>
          <p:cNvSpPr txBox="1"/>
          <p:nvPr/>
        </p:nvSpPr>
        <p:spPr>
          <a:xfrm>
            <a:off x="952500" y="4262288"/>
            <a:ext cx="48579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GPU Capability:</a:t>
            </a:r>
            <a:r>
              <a:rPr b="0" i="0" lang="en-US" sz="1350" u="none" cap="none" strike="noStrike">
                <a:solidFill>
                  <a:srgbClr val="1E293B"/>
                </a:solidFill>
                <a:latin typeface="Inter"/>
                <a:ea typeface="Inter"/>
                <a:cs typeface="Inter"/>
                <a:sym typeface="Inter"/>
              </a:rPr>
              <a:t> NVIDIA RTX 4060 8GB VRAM</a:t>
            </a:r>
            <a:endParaRPr/>
          </a:p>
        </p:txBody>
      </p:sp>
      <p:sp>
        <p:nvSpPr>
          <p:cNvPr id="307" name="Google Shape;307;p31"/>
          <p:cNvSpPr txBox="1"/>
          <p:nvPr/>
        </p:nvSpPr>
        <p:spPr>
          <a:xfrm>
            <a:off x="8081962" y="3109912"/>
            <a:ext cx="18384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a:p>
        </p:txBody>
      </p:sp>
      <p:pic>
        <p:nvPicPr>
          <p:cNvPr descr="image.png" id="308" name="Google Shape;308;p31"/>
          <p:cNvPicPr preferRelativeResize="0"/>
          <p:nvPr/>
        </p:nvPicPr>
        <p:blipFill rotWithShape="1">
          <a:blip r:embed="rId3">
            <a:alphaModFix/>
          </a:blip>
          <a:srcRect b="0" l="0" r="0" t="0"/>
          <a:stretch/>
        </p:blipFill>
        <p:spPr>
          <a:xfrm>
            <a:off x="571500" y="1697384"/>
            <a:ext cx="171450" cy="200025"/>
          </a:xfrm>
          <a:prstGeom prst="rect">
            <a:avLst/>
          </a:prstGeom>
          <a:noFill/>
          <a:ln>
            <a:noFill/>
          </a:ln>
        </p:spPr>
      </p:pic>
      <p:pic>
        <p:nvPicPr>
          <p:cNvPr descr="image.png" id="309" name="Google Shape;309;p31"/>
          <p:cNvPicPr preferRelativeResize="0"/>
          <p:nvPr/>
        </p:nvPicPr>
        <p:blipFill rotWithShape="1">
          <a:blip r:embed="rId4">
            <a:alphaModFix/>
          </a:blip>
          <a:srcRect b="0" l="0" r="0" t="0"/>
          <a:stretch/>
        </p:blipFill>
        <p:spPr>
          <a:xfrm>
            <a:off x="571500" y="2484090"/>
            <a:ext cx="219075" cy="200025"/>
          </a:xfrm>
          <a:prstGeom prst="rect">
            <a:avLst/>
          </a:prstGeom>
          <a:noFill/>
          <a:ln>
            <a:noFill/>
          </a:ln>
        </p:spPr>
      </p:pic>
      <p:pic>
        <p:nvPicPr>
          <p:cNvPr descr="image.png" id="310" name="Google Shape;310;p31"/>
          <p:cNvPicPr preferRelativeResize="0"/>
          <p:nvPr/>
        </p:nvPicPr>
        <p:blipFill rotWithShape="1">
          <a:blip r:embed="rId5">
            <a:alphaModFix/>
          </a:blip>
          <a:srcRect b="0" l="0" r="0" t="0"/>
          <a:stretch/>
        </p:blipFill>
        <p:spPr>
          <a:xfrm>
            <a:off x="571500" y="3270795"/>
            <a:ext cx="190500" cy="200025"/>
          </a:xfrm>
          <a:prstGeom prst="rect">
            <a:avLst/>
          </a:prstGeom>
          <a:noFill/>
          <a:ln>
            <a:noFill/>
          </a:ln>
        </p:spPr>
      </p:pic>
      <p:pic>
        <p:nvPicPr>
          <p:cNvPr descr="image.png" id="311" name="Google Shape;311;p31"/>
          <p:cNvPicPr preferRelativeResize="0"/>
          <p:nvPr/>
        </p:nvPicPr>
        <p:blipFill rotWithShape="1">
          <a:blip r:embed="rId6">
            <a:alphaModFix/>
          </a:blip>
          <a:srcRect b="0" l="0" r="0" t="0"/>
          <a:stretch/>
        </p:blipFill>
        <p:spPr>
          <a:xfrm>
            <a:off x="571500" y="3783210"/>
            <a:ext cx="190500" cy="200025"/>
          </a:xfrm>
          <a:prstGeom prst="rect">
            <a:avLst/>
          </a:prstGeom>
          <a:noFill/>
          <a:ln>
            <a:noFill/>
          </a:ln>
        </p:spPr>
      </p:pic>
      <p:pic>
        <p:nvPicPr>
          <p:cNvPr descr="image.png" id="312" name="Google Shape;312;p31"/>
          <p:cNvPicPr preferRelativeResize="0"/>
          <p:nvPr/>
        </p:nvPicPr>
        <p:blipFill rotWithShape="1">
          <a:blip r:embed="rId7">
            <a:alphaModFix/>
          </a:blip>
          <a:srcRect b="0" l="0" r="0" t="0"/>
          <a:stretch/>
        </p:blipFill>
        <p:spPr>
          <a:xfrm>
            <a:off x="571500" y="4295626"/>
            <a:ext cx="219075" cy="200025"/>
          </a:xfrm>
          <a:prstGeom prst="rect">
            <a:avLst/>
          </a:prstGeom>
          <a:noFill/>
          <a:ln>
            <a:noFill/>
          </a:ln>
        </p:spPr>
      </p:pic>
      <p:pic>
        <p:nvPicPr>
          <p:cNvPr id="313" name="Google Shape;313;p31"/>
          <p:cNvPicPr preferRelativeResize="0"/>
          <p:nvPr/>
        </p:nvPicPr>
        <p:blipFill>
          <a:blip r:embed="rId8">
            <a:alphaModFix/>
          </a:blip>
          <a:stretch>
            <a:fillRect/>
          </a:stretch>
        </p:blipFill>
        <p:spPr>
          <a:xfrm>
            <a:off x="6403826" y="2484100"/>
            <a:ext cx="5590675" cy="2016626"/>
          </a:xfrm>
          <a:prstGeom prst="rect">
            <a:avLst/>
          </a:prstGeom>
          <a:noFill/>
          <a:ln>
            <a:noFill/>
          </a:ln>
        </p:spPr>
      </p:pic>
      <p:pic>
        <p:nvPicPr>
          <p:cNvPr id="314" name="Google Shape;314;p31"/>
          <p:cNvPicPr preferRelativeResize="0"/>
          <p:nvPr/>
        </p:nvPicPr>
        <p:blipFill>
          <a:blip r:embed="rId9">
            <a:alphaModFix/>
          </a:blip>
          <a:stretch>
            <a:fillRect/>
          </a:stretch>
        </p:blipFill>
        <p:spPr>
          <a:xfrm>
            <a:off x="6206324" y="882475"/>
            <a:ext cx="5985677" cy="1365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sp>
        <p:nvSpPr>
          <p:cNvPr id="319" name="Google Shape;319;p32"/>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Implementation Details</a:t>
            </a:r>
            <a:endParaRPr/>
          </a:p>
        </p:txBody>
      </p:sp>
      <p:sp>
        <p:nvSpPr>
          <p:cNvPr id="320" name="Google Shape;320;p32"/>
          <p:cNvSpPr txBox="1"/>
          <p:nvPr/>
        </p:nvSpPr>
        <p:spPr>
          <a:xfrm>
            <a:off x="1714500" y="1933575"/>
            <a:ext cx="9144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Dataset:</a:t>
            </a:r>
            <a:r>
              <a:rPr b="0" i="0" lang="en-US" sz="1350" u="none" cap="none" strike="noStrike">
                <a:solidFill>
                  <a:srgbClr val="1E293B"/>
                </a:solidFill>
                <a:latin typeface="Inter"/>
                <a:ea typeface="Inter"/>
                <a:cs typeface="Inter"/>
                <a:sym typeface="Inter"/>
              </a:rPr>
              <a:t> ShapeNetMultiViewDataset utilizing `ShapeNetRendering` and `ShapeNetVox32`. Models read using custom `binvox_rw.py`.</a:t>
            </a:r>
            <a:endParaRPr/>
          </a:p>
        </p:txBody>
      </p:sp>
      <p:sp>
        <p:nvSpPr>
          <p:cNvPr id="321" name="Google Shape;321;p32"/>
          <p:cNvSpPr txBox="1"/>
          <p:nvPr/>
        </p:nvSpPr>
        <p:spPr>
          <a:xfrm>
            <a:off x="1714500" y="2720280"/>
            <a:ext cx="9144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Batch Sizing:</a:t>
            </a:r>
            <a:r>
              <a:rPr b="0" i="0" lang="en-US" sz="1350" u="none" cap="none" strike="noStrike">
                <a:solidFill>
                  <a:srgbClr val="1E293B"/>
                </a:solidFill>
                <a:latin typeface="Inter"/>
                <a:ea typeface="Inter"/>
                <a:cs typeface="Inter"/>
                <a:sym typeface="Inter"/>
              </a:rPr>
              <a:t> Batch size constrained to 16 to fit within the 8GB VRAM of the RTX 4060.</a:t>
            </a:r>
            <a:endParaRPr/>
          </a:p>
        </p:txBody>
      </p:sp>
      <p:sp>
        <p:nvSpPr>
          <p:cNvPr id="322" name="Google Shape;322;p32"/>
          <p:cNvSpPr txBox="1"/>
          <p:nvPr/>
        </p:nvSpPr>
        <p:spPr>
          <a:xfrm>
            <a:off x="1714500" y="3232695"/>
            <a:ext cx="9144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Hyperparameters:</a:t>
            </a:r>
            <a:r>
              <a:rPr b="0" i="0" lang="en-US" sz="1350" u="none" cap="none" strike="noStrike">
                <a:solidFill>
                  <a:srgbClr val="1E293B"/>
                </a:solidFill>
                <a:latin typeface="Inter"/>
                <a:ea typeface="Inter"/>
                <a:cs typeface="Inter"/>
                <a:sym typeface="Inter"/>
              </a:rPr>
              <a:t> Trained for 25 Epochs using the Adam Optimizer (lr=0.001) and Binary Cross Entropy (BCE) Loss.</a:t>
            </a:r>
            <a:endParaRPr/>
          </a:p>
        </p:txBody>
      </p:sp>
      <p:sp>
        <p:nvSpPr>
          <p:cNvPr id="323" name="Google Shape;323;p32"/>
          <p:cNvSpPr txBox="1"/>
          <p:nvPr/>
        </p:nvSpPr>
        <p:spPr>
          <a:xfrm>
            <a:off x="1714500" y="4019401"/>
            <a:ext cx="9144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Thresholding:</a:t>
            </a:r>
            <a:r>
              <a:rPr b="0" i="0" lang="en-US" sz="1350" u="none" cap="none" strike="noStrike">
                <a:solidFill>
                  <a:srgbClr val="1E293B"/>
                </a:solidFill>
                <a:latin typeface="Inter"/>
                <a:ea typeface="Inter"/>
                <a:cs typeface="Inter"/>
                <a:sym typeface="Inter"/>
              </a:rPr>
              <a:t> Voxel probabilities are binarized at a strict threshold of 0.3 as specified by the foundational paper.</a:t>
            </a:r>
            <a:endParaRPr/>
          </a:p>
        </p:txBody>
      </p:sp>
      <p:pic>
        <p:nvPicPr>
          <p:cNvPr descr="image.png" id="324" name="Google Shape;324;p32"/>
          <p:cNvPicPr preferRelativeResize="0"/>
          <p:nvPr/>
        </p:nvPicPr>
        <p:blipFill rotWithShape="1">
          <a:blip r:embed="rId3">
            <a:alphaModFix/>
          </a:blip>
          <a:srcRect b="0" l="0" r="0" t="0"/>
          <a:stretch/>
        </p:blipFill>
        <p:spPr>
          <a:xfrm>
            <a:off x="1333500" y="1966912"/>
            <a:ext cx="171450" cy="200025"/>
          </a:xfrm>
          <a:prstGeom prst="rect">
            <a:avLst/>
          </a:prstGeom>
          <a:noFill/>
          <a:ln>
            <a:noFill/>
          </a:ln>
        </p:spPr>
      </p:pic>
      <p:pic>
        <p:nvPicPr>
          <p:cNvPr descr="image.png" id="325" name="Google Shape;325;p32"/>
          <p:cNvPicPr preferRelativeResize="0"/>
          <p:nvPr/>
        </p:nvPicPr>
        <p:blipFill rotWithShape="1">
          <a:blip r:embed="rId4">
            <a:alphaModFix/>
          </a:blip>
          <a:srcRect b="0" l="0" r="0" t="0"/>
          <a:stretch/>
        </p:blipFill>
        <p:spPr>
          <a:xfrm>
            <a:off x="1333500" y="2753617"/>
            <a:ext cx="219075" cy="200025"/>
          </a:xfrm>
          <a:prstGeom prst="rect">
            <a:avLst/>
          </a:prstGeom>
          <a:noFill/>
          <a:ln>
            <a:noFill/>
          </a:ln>
        </p:spPr>
      </p:pic>
      <p:pic>
        <p:nvPicPr>
          <p:cNvPr descr="image.png" id="326" name="Google Shape;326;p32"/>
          <p:cNvPicPr preferRelativeResize="0"/>
          <p:nvPr/>
        </p:nvPicPr>
        <p:blipFill rotWithShape="1">
          <a:blip r:embed="rId5">
            <a:alphaModFix/>
          </a:blip>
          <a:srcRect b="0" l="0" r="0" t="0"/>
          <a:stretch/>
        </p:blipFill>
        <p:spPr>
          <a:xfrm>
            <a:off x="1333500" y="3266033"/>
            <a:ext cx="238125" cy="200025"/>
          </a:xfrm>
          <a:prstGeom prst="rect">
            <a:avLst/>
          </a:prstGeom>
          <a:noFill/>
          <a:ln>
            <a:noFill/>
          </a:ln>
        </p:spPr>
      </p:pic>
      <p:pic>
        <p:nvPicPr>
          <p:cNvPr descr="image.png" id="327" name="Google Shape;327;p32"/>
          <p:cNvPicPr preferRelativeResize="0"/>
          <p:nvPr/>
        </p:nvPicPr>
        <p:blipFill rotWithShape="1">
          <a:blip r:embed="rId6">
            <a:alphaModFix/>
          </a:blip>
          <a:srcRect b="0" l="0" r="0" t="0"/>
          <a:stretch/>
        </p:blipFill>
        <p:spPr>
          <a:xfrm>
            <a:off x="1333500" y="4052738"/>
            <a:ext cx="190500" cy="2000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33"/>
          <p:cNvSpPr txBox="1"/>
          <p:nvPr/>
        </p:nvSpPr>
        <p:spPr>
          <a:xfrm>
            <a:off x="3095625" y="2384077"/>
            <a:ext cx="6000750" cy="8096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4200" u="none" cap="none" strike="noStrike">
                <a:solidFill>
                  <a:srgbClr val="020617"/>
                </a:solidFill>
                <a:latin typeface="Poppins SemiBold"/>
                <a:ea typeface="Poppins SemiBold"/>
                <a:cs typeface="Poppins SemiBold"/>
                <a:sym typeface="Poppins SemiBold"/>
              </a:rPr>
              <a:t>Experimental Results</a:t>
            </a:r>
            <a:endParaRPr/>
          </a:p>
        </p:txBody>
      </p:sp>
      <p:sp>
        <p:nvSpPr>
          <p:cNvPr id="333" name="Google Shape;333;p33"/>
          <p:cNvSpPr txBox="1"/>
          <p:nvPr/>
        </p:nvSpPr>
        <p:spPr>
          <a:xfrm>
            <a:off x="3452812" y="3336577"/>
            <a:ext cx="528637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64748B"/>
                </a:solidFill>
                <a:latin typeface="Inter"/>
                <a:ea typeface="Inter"/>
                <a:cs typeface="Inter"/>
                <a:sym typeface="Inter"/>
              </a:rPr>
              <a:t>Validating model performance and visual outputs</a:t>
            </a:r>
            <a:endParaRPr/>
          </a:p>
        </p:txBody>
      </p:sp>
      <p:sp>
        <p:nvSpPr>
          <p:cNvPr id="334" name="Google Shape;334;p33"/>
          <p:cNvSpPr/>
          <p:nvPr/>
        </p:nvSpPr>
        <p:spPr>
          <a:xfrm>
            <a:off x="5715000" y="4130873"/>
            <a:ext cx="762000" cy="5715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pic>
        <p:nvPicPr>
          <p:cNvPr descr="image.png" id="339" name="Google Shape;339;p34"/>
          <p:cNvPicPr preferRelativeResize="0"/>
          <p:nvPr/>
        </p:nvPicPr>
        <p:blipFill rotWithShape="1">
          <a:blip r:embed="rId3">
            <a:alphaModFix/>
          </a:blip>
          <a:srcRect b="0" l="0" r="0" t="0"/>
          <a:stretch/>
        </p:blipFill>
        <p:spPr>
          <a:xfrm>
            <a:off x="571500" y="2462212"/>
            <a:ext cx="3429000" cy="1981200"/>
          </a:xfrm>
          <a:prstGeom prst="rect">
            <a:avLst/>
          </a:prstGeom>
          <a:noFill/>
          <a:ln>
            <a:noFill/>
          </a:ln>
        </p:spPr>
      </p:pic>
      <p:pic>
        <p:nvPicPr>
          <p:cNvPr descr="image.png" id="340" name="Google Shape;340;p34"/>
          <p:cNvPicPr preferRelativeResize="0"/>
          <p:nvPr/>
        </p:nvPicPr>
        <p:blipFill rotWithShape="1">
          <a:blip r:embed="rId3">
            <a:alphaModFix/>
          </a:blip>
          <a:srcRect b="0" l="0" r="0" t="0"/>
          <a:stretch/>
        </p:blipFill>
        <p:spPr>
          <a:xfrm>
            <a:off x="4381500" y="2462212"/>
            <a:ext cx="3429000" cy="1981200"/>
          </a:xfrm>
          <a:prstGeom prst="rect">
            <a:avLst/>
          </a:prstGeom>
          <a:noFill/>
          <a:ln>
            <a:noFill/>
          </a:ln>
        </p:spPr>
      </p:pic>
      <p:pic>
        <p:nvPicPr>
          <p:cNvPr descr="image.png" id="341" name="Google Shape;341;p34"/>
          <p:cNvPicPr preferRelativeResize="0"/>
          <p:nvPr/>
        </p:nvPicPr>
        <p:blipFill rotWithShape="1">
          <a:blip r:embed="rId3">
            <a:alphaModFix/>
          </a:blip>
          <a:srcRect b="0" l="0" r="0" t="0"/>
          <a:stretch/>
        </p:blipFill>
        <p:spPr>
          <a:xfrm>
            <a:off x="8191500" y="2462212"/>
            <a:ext cx="3429000" cy="1981200"/>
          </a:xfrm>
          <a:prstGeom prst="rect">
            <a:avLst/>
          </a:prstGeom>
          <a:noFill/>
          <a:ln>
            <a:noFill/>
          </a:ln>
        </p:spPr>
      </p:pic>
      <p:sp>
        <p:nvSpPr>
          <p:cNvPr id="342" name="Google Shape;342;p34"/>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Final Training Metrics (Epoch 25)</a:t>
            </a:r>
            <a:endParaRPr/>
          </a:p>
        </p:txBody>
      </p:sp>
      <p:sp>
        <p:nvSpPr>
          <p:cNvPr id="343" name="Google Shape;343;p34"/>
          <p:cNvSpPr txBox="1"/>
          <p:nvPr/>
        </p:nvSpPr>
        <p:spPr>
          <a:xfrm>
            <a:off x="571500" y="5734050"/>
            <a:ext cx="11049000" cy="552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0F172A"/>
                </a:solidFill>
                <a:latin typeface="Inter"/>
                <a:ea typeface="Inter"/>
                <a:cs typeface="Inter"/>
                <a:sym typeface="Inter"/>
              </a:rPr>
              <a:t>Final F-Score achieved: </a:t>
            </a:r>
            <a:r>
              <a:rPr b="1" i="0" lang="en-US" sz="1500" u="none" cap="none" strike="noStrike">
                <a:solidFill>
                  <a:srgbClr val="10B981"/>
                </a:solidFill>
                <a:latin typeface="Inter"/>
                <a:ea typeface="Inter"/>
                <a:cs typeface="Inter"/>
                <a:sym typeface="Inter"/>
              </a:rPr>
              <a:t>0.8380</a:t>
            </a:r>
            <a:r>
              <a:rPr b="0" i="0" lang="en-US" sz="1500" u="none" cap="none" strike="noStrike">
                <a:solidFill>
                  <a:srgbClr val="0F172A"/>
                </a:solidFill>
                <a:latin typeface="Inter"/>
                <a:ea typeface="Inter"/>
                <a:cs typeface="Inter"/>
                <a:sym typeface="Inter"/>
              </a:rPr>
              <a:t>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64748B"/>
                </a:solidFill>
                <a:latin typeface="Inter"/>
                <a:ea typeface="Inter"/>
                <a:cs typeface="Inter"/>
                <a:sym typeface="Inter"/>
              </a:rPr>
              <a:t>(Demonstrating excellent precision-recall balance)</a:t>
            </a:r>
            <a:endParaRPr/>
          </a:p>
        </p:txBody>
      </p:sp>
      <p:sp>
        <p:nvSpPr>
          <p:cNvPr id="344" name="Google Shape;344;p34"/>
          <p:cNvSpPr txBox="1"/>
          <p:nvPr/>
        </p:nvSpPr>
        <p:spPr>
          <a:xfrm>
            <a:off x="962025" y="2852737"/>
            <a:ext cx="2647950" cy="762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6000" u="none" cap="none" strike="noStrike">
                <a:solidFill>
                  <a:srgbClr val="2563EB"/>
                </a:solidFill>
                <a:latin typeface="Poppins"/>
                <a:ea typeface="Poppins"/>
                <a:cs typeface="Poppins"/>
                <a:sym typeface="Poppins"/>
              </a:rPr>
              <a:t>0.063</a:t>
            </a:r>
            <a:endParaRPr/>
          </a:p>
        </p:txBody>
      </p:sp>
      <p:sp>
        <p:nvSpPr>
          <p:cNvPr id="345" name="Google Shape;345;p34"/>
          <p:cNvSpPr txBox="1"/>
          <p:nvPr/>
        </p:nvSpPr>
        <p:spPr>
          <a:xfrm>
            <a:off x="962025" y="3805237"/>
            <a:ext cx="2647950"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020617"/>
                </a:solidFill>
                <a:latin typeface="Inter SemiBold"/>
                <a:ea typeface="Inter SemiBold"/>
                <a:cs typeface="Inter SemiBold"/>
                <a:sym typeface="Inter SemiBold"/>
              </a:rPr>
              <a:t>Avg Loss</a:t>
            </a:r>
            <a:endParaRPr/>
          </a:p>
        </p:txBody>
      </p:sp>
      <p:sp>
        <p:nvSpPr>
          <p:cNvPr id="346" name="Google Shape;346;p34"/>
          <p:cNvSpPr txBox="1"/>
          <p:nvPr/>
        </p:nvSpPr>
        <p:spPr>
          <a:xfrm>
            <a:off x="4772025" y="2852737"/>
            <a:ext cx="2647950" cy="762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6000" u="none" cap="none" strike="noStrike">
                <a:solidFill>
                  <a:srgbClr val="2563EB"/>
                </a:solidFill>
                <a:latin typeface="Poppins"/>
                <a:ea typeface="Poppins"/>
                <a:cs typeface="Poppins"/>
                <a:sym typeface="Poppins"/>
              </a:rPr>
              <a:t>96.9%</a:t>
            </a:r>
            <a:endParaRPr/>
          </a:p>
        </p:txBody>
      </p:sp>
      <p:sp>
        <p:nvSpPr>
          <p:cNvPr id="347" name="Google Shape;347;p34"/>
          <p:cNvSpPr txBox="1"/>
          <p:nvPr/>
        </p:nvSpPr>
        <p:spPr>
          <a:xfrm>
            <a:off x="4772025" y="3805237"/>
            <a:ext cx="2647950"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020617"/>
                </a:solidFill>
                <a:latin typeface="Inter SemiBold"/>
                <a:ea typeface="Inter SemiBold"/>
                <a:cs typeface="Inter SemiBold"/>
                <a:sym typeface="Inter SemiBold"/>
              </a:rPr>
              <a:t>Accuracy</a:t>
            </a:r>
            <a:endParaRPr/>
          </a:p>
        </p:txBody>
      </p:sp>
      <p:sp>
        <p:nvSpPr>
          <p:cNvPr id="348" name="Google Shape;348;p34"/>
          <p:cNvSpPr txBox="1"/>
          <p:nvPr/>
        </p:nvSpPr>
        <p:spPr>
          <a:xfrm>
            <a:off x="8582025" y="2852737"/>
            <a:ext cx="2648100" cy="92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6000" u="none" cap="none" strike="noStrike">
                <a:solidFill>
                  <a:srgbClr val="2563EB"/>
                </a:solidFill>
                <a:latin typeface="Poppins"/>
                <a:ea typeface="Poppins"/>
                <a:cs typeface="Poppins"/>
                <a:sym typeface="Poppins"/>
              </a:rPr>
              <a:t>0.7</a:t>
            </a:r>
            <a:r>
              <a:rPr b="1" lang="en-US" sz="6000">
                <a:solidFill>
                  <a:srgbClr val="2563EB"/>
                </a:solidFill>
                <a:latin typeface="Poppins"/>
                <a:ea typeface="Poppins"/>
                <a:cs typeface="Poppins"/>
                <a:sym typeface="Poppins"/>
              </a:rPr>
              <a:t>30</a:t>
            </a:r>
            <a:endParaRPr/>
          </a:p>
        </p:txBody>
      </p:sp>
      <p:sp>
        <p:nvSpPr>
          <p:cNvPr id="349" name="Google Shape;349;p34"/>
          <p:cNvSpPr txBox="1"/>
          <p:nvPr/>
        </p:nvSpPr>
        <p:spPr>
          <a:xfrm>
            <a:off x="8582025" y="3805237"/>
            <a:ext cx="2647950"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020617"/>
                </a:solidFill>
                <a:latin typeface="Inter SemiBold"/>
                <a:ea typeface="Inter SemiBold"/>
                <a:cs typeface="Inter SemiBold"/>
                <a:sym typeface="Inter SemiBold"/>
              </a:rPr>
              <a:t>Avg IoU</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pic>
        <p:nvPicPr>
          <p:cNvPr id="354" name="Google Shape;354;p35"/>
          <p:cNvPicPr preferRelativeResize="0"/>
          <p:nvPr/>
        </p:nvPicPr>
        <p:blipFill rotWithShape="1">
          <a:blip r:embed="rId3">
            <a:alphaModFix/>
          </a:blip>
          <a:srcRect b="40" l="0" r="0" t="50"/>
          <a:stretch/>
        </p:blipFill>
        <p:spPr>
          <a:xfrm>
            <a:off x="571500" y="1561234"/>
            <a:ext cx="11049000" cy="4743226"/>
          </a:xfrm>
          <a:prstGeom prst="rect">
            <a:avLst/>
          </a:prstGeom>
          <a:noFill/>
          <a:ln>
            <a:noFill/>
          </a:ln>
        </p:spPr>
      </p:pic>
      <p:sp>
        <p:nvSpPr>
          <p:cNvPr id="355" name="Google Shape;355;p35"/>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Model Performance vs Baseline (20 Views)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sp>
        <p:nvSpPr>
          <p:cNvPr id="360" name="Google Shape;360;p36"/>
          <p:cNvSpPr txBox="1"/>
          <p:nvPr/>
        </p:nvSpPr>
        <p:spPr>
          <a:xfrm>
            <a:off x="571500" y="571500"/>
            <a:ext cx="52006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Visual Reconstruction</a:t>
            </a:r>
            <a:endParaRPr/>
          </a:p>
        </p:txBody>
      </p:sp>
      <p:sp>
        <p:nvSpPr>
          <p:cNvPr id="361" name="Google Shape;361;p36"/>
          <p:cNvSpPr txBox="1"/>
          <p:nvPr/>
        </p:nvSpPr>
        <p:spPr>
          <a:xfrm>
            <a:off x="7813595" y="3230909"/>
            <a:ext cx="26703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a:p>
        </p:txBody>
      </p:sp>
      <p:sp>
        <p:nvSpPr>
          <p:cNvPr id="362" name="Google Shape;362;p36"/>
          <p:cNvSpPr txBox="1"/>
          <p:nvPr/>
        </p:nvSpPr>
        <p:spPr>
          <a:xfrm>
            <a:off x="6486525" y="3697634"/>
            <a:ext cx="5324400" cy="215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t/>
            </a:r>
            <a:endParaRPr/>
          </a:p>
        </p:txBody>
      </p:sp>
      <p:sp>
        <p:nvSpPr>
          <p:cNvPr id="363" name="Google Shape;363;p36"/>
          <p:cNvSpPr txBox="1"/>
          <p:nvPr/>
        </p:nvSpPr>
        <p:spPr>
          <a:xfrm>
            <a:off x="571500" y="1362075"/>
            <a:ext cx="5200650"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2563EB"/>
                </a:solidFill>
                <a:latin typeface="Poppins SemiBold"/>
                <a:ea typeface="Poppins SemiBold"/>
                <a:cs typeface="Poppins SemiBold"/>
                <a:sym typeface="Poppins SemiBold"/>
              </a:rPr>
              <a:t>Generated Car Model</a:t>
            </a:r>
            <a:endParaRPr/>
          </a:p>
        </p:txBody>
      </p:sp>
      <p:sp>
        <p:nvSpPr>
          <p:cNvPr id="364" name="Google Shape;364;p36"/>
          <p:cNvSpPr txBox="1"/>
          <p:nvPr/>
        </p:nvSpPr>
        <p:spPr>
          <a:xfrm>
            <a:off x="571500" y="2049100"/>
            <a:ext cx="4953000" cy="5403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The MA-R integration successfully captured intricate geometrical details that standard refiners miss.</a:t>
            </a:r>
            <a:endParaRPr/>
          </a:p>
        </p:txBody>
      </p:sp>
      <p:sp>
        <p:nvSpPr>
          <p:cNvPr id="365" name="Google Shape;365;p36"/>
          <p:cNvSpPr txBox="1"/>
          <p:nvPr/>
        </p:nvSpPr>
        <p:spPr>
          <a:xfrm>
            <a:off x="571500" y="2970805"/>
            <a:ext cx="4953000" cy="12051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Elements like the rear spoiler, thin roof pillars, and wheel arches are reconstructed with minimal voxel bleeding, proving the attention mechanism's efficacy in retaining high-frequency structural boundaries.</a:t>
            </a:r>
            <a:endParaRPr/>
          </a:p>
        </p:txBody>
      </p:sp>
      <p:pic>
        <p:nvPicPr>
          <p:cNvPr id="366" name="Google Shape;366;p36" title="Screenshot 2026-04-16 232912.png"/>
          <p:cNvPicPr preferRelativeResize="0"/>
          <p:nvPr/>
        </p:nvPicPr>
        <p:blipFill>
          <a:blip r:embed="rId3">
            <a:alphaModFix/>
          </a:blip>
          <a:stretch>
            <a:fillRect/>
          </a:stretch>
        </p:blipFill>
        <p:spPr>
          <a:xfrm>
            <a:off x="6154800" y="1171575"/>
            <a:ext cx="5324400" cy="2609850"/>
          </a:xfrm>
          <a:prstGeom prst="rect">
            <a:avLst/>
          </a:prstGeom>
          <a:noFill/>
          <a:ln>
            <a:noFill/>
          </a:ln>
          <a:effectLst>
            <a:reflection blurRad="0" dir="5400000" dist="247650" endA="0" endPos="60000" fadeDir="5400012" kx="0" rotWithShape="0" algn="bl" stA="70000" stPos="0" sy="-100000" ky="0"/>
          </a:effectLst>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pic>
        <p:nvPicPr>
          <p:cNvPr descr="image.png" id="371" name="Google Shape;371;p37"/>
          <p:cNvPicPr preferRelativeResize="0"/>
          <p:nvPr/>
        </p:nvPicPr>
        <p:blipFill rotWithShape="1">
          <a:blip r:embed="rId3">
            <a:alphaModFix/>
          </a:blip>
          <a:srcRect b="0" l="0" r="0" t="0"/>
          <a:stretch/>
        </p:blipFill>
        <p:spPr>
          <a:xfrm>
            <a:off x="571500" y="1552575"/>
            <a:ext cx="5334000" cy="2535435"/>
          </a:xfrm>
          <a:prstGeom prst="rect">
            <a:avLst/>
          </a:prstGeom>
          <a:noFill/>
          <a:ln>
            <a:noFill/>
          </a:ln>
        </p:spPr>
      </p:pic>
      <p:pic>
        <p:nvPicPr>
          <p:cNvPr descr="image.png" id="372" name="Google Shape;372;p37"/>
          <p:cNvPicPr preferRelativeResize="0"/>
          <p:nvPr/>
        </p:nvPicPr>
        <p:blipFill rotWithShape="1">
          <a:blip r:embed="rId4">
            <a:alphaModFix/>
          </a:blip>
          <a:srcRect b="0" l="0" r="0" t="0"/>
          <a:stretch/>
        </p:blipFill>
        <p:spPr>
          <a:xfrm>
            <a:off x="6286500" y="1552575"/>
            <a:ext cx="5334000" cy="2535435"/>
          </a:xfrm>
          <a:prstGeom prst="rect">
            <a:avLst/>
          </a:prstGeom>
          <a:noFill/>
          <a:ln>
            <a:noFill/>
          </a:ln>
        </p:spPr>
      </p:pic>
      <p:sp>
        <p:nvSpPr>
          <p:cNvPr id="373" name="Google Shape;373;p37"/>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Why the Proposed Work is Better</a:t>
            </a:r>
            <a:endParaRPr/>
          </a:p>
        </p:txBody>
      </p:sp>
      <p:sp>
        <p:nvSpPr>
          <p:cNvPr id="374" name="Google Shape;374;p37"/>
          <p:cNvSpPr txBox="1"/>
          <p:nvPr/>
        </p:nvSpPr>
        <p:spPr>
          <a:xfrm>
            <a:off x="962025" y="1943100"/>
            <a:ext cx="4780597"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2563EB"/>
                </a:solidFill>
                <a:latin typeface="Poppins SemiBold"/>
                <a:ea typeface="Poppins SemiBold"/>
                <a:cs typeface="Poppins SemiBold"/>
                <a:sym typeface="Poppins SemiBold"/>
              </a:rPr>
              <a:t>Dual Filtering</a:t>
            </a:r>
            <a:endParaRPr/>
          </a:p>
        </p:txBody>
      </p:sp>
      <p:sp>
        <p:nvSpPr>
          <p:cNvPr id="375" name="Google Shape;375;p37"/>
          <p:cNvSpPr txBox="1"/>
          <p:nvPr/>
        </p:nvSpPr>
        <p:spPr>
          <a:xfrm>
            <a:off x="962025" y="2457450"/>
            <a:ext cx="4553100" cy="12051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The Multi-Head Attention mechanism actively suppresses low-frequency spatial noise while prioritizing high-frequency features (sharp object boundaries).</a:t>
            </a:r>
            <a:endParaRPr/>
          </a:p>
        </p:txBody>
      </p:sp>
      <p:sp>
        <p:nvSpPr>
          <p:cNvPr id="376" name="Google Shape;376;p37"/>
          <p:cNvSpPr txBox="1"/>
          <p:nvPr/>
        </p:nvSpPr>
        <p:spPr>
          <a:xfrm>
            <a:off x="6677025" y="1943100"/>
            <a:ext cx="4780597"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10B981"/>
                </a:solidFill>
                <a:latin typeface="Poppins SemiBold"/>
                <a:ea typeface="Poppins SemiBold"/>
                <a:cs typeface="Poppins SemiBold"/>
                <a:sym typeface="Poppins SemiBold"/>
              </a:rPr>
              <a:t>Multi-Resolution Handling</a:t>
            </a:r>
            <a:endParaRPr/>
          </a:p>
        </p:txBody>
      </p:sp>
      <p:sp>
        <p:nvSpPr>
          <p:cNvPr id="377" name="Google Shape;377;p37"/>
          <p:cNvSpPr txBox="1"/>
          <p:nvPr/>
        </p:nvSpPr>
        <p:spPr>
          <a:xfrm>
            <a:off x="6677025" y="2457450"/>
            <a:ext cx="4553100" cy="1205100"/>
          </a:xfrm>
          <a:prstGeom prst="rect">
            <a:avLst/>
          </a:prstGeom>
          <a:noFill/>
          <a:ln>
            <a:noFill/>
          </a:ln>
        </p:spPr>
        <p:txBody>
          <a:bodyPr anchorCtr="0" anchor="t" bIns="0" lIns="0" spcFirstLastPara="1" rIns="0" wrap="square" tIns="0">
            <a:spAutoFit/>
          </a:bodyPr>
          <a:lstStyle/>
          <a:p>
            <a:pPr indent="-314325" lvl="0" marL="457200" marR="0" rtl="0" algn="l">
              <a:lnSpc>
                <a:spcPct val="160000"/>
              </a:lnSpc>
              <a:spcBef>
                <a:spcPts val="0"/>
              </a:spcBef>
              <a:spcAft>
                <a:spcPts val="0"/>
              </a:spcAft>
              <a:buClr>
                <a:srgbClr val="1E293B"/>
              </a:buClr>
              <a:buSzPts val="1350"/>
              <a:buFont typeface="Inter"/>
              <a:buChar char="●"/>
            </a:pPr>
            <a:r>
              <a:rPr b="0" i="0" lang="en-US" sz="1350" u="none" cap="none" strike="noStrike">
                <a:solidFill>
                  <a:srgbClr val="1E293B"/>
                </a:solidFill>
                <a:latin typeface="Inter"/>
                <a:ea typeface="Inter"/>
                <a:cs typeface="Inter"/>
                <a:sym typeface="Inter"/>
              </a:rPr>
              <a:t>By employing multiple attention heads, MA-R processes the 3D volume at various internal representation levels, catching microscopic features missed by single-head architectures.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1" name="Shape 381"/>
        <p:cNvGrpSpPr/>
        <p:nvPr/>
      </p:nvGrpSpPr>
      <p:grpSpPr>
        <a:xfrm>
          <a:off x="0" y="0"/>
          <a:ext cx="0" cy="0"/>
          <a:chOff x="0" y="0"/>
          <a:chExt cx="0" cy="0"/>
        </a:xfrm>
      </p:grpSpPr>
      <p:sp>
        <p:nvSpPr>
          <p:cNvPr id="382" name="Google Shape;382;p38"/>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Project Structure</a:t>
            </a:r>
            <a:endParaRPr/>
          </a:p>
        </p:txBody>
      </p:sp>
      <p:sp>
        <p:nvSpPr>
          <p:cNvPr id="383" name="Google Shape;383;p38"/>
          <p:cNvSpPr txBox="1"/>
          <p:nvPr/>
        </p:nvSpPr>
        <p:spPr>
          <a:xfrm>
            <a:off x="1714500" y="1933575"/>
            <a:ext cx="9144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data/</a:t>
            </a:r>
            <a:r>
              <a:rPr b="0" i="0" lang="en-US" sz="1350" u="none" cap="none" strike="noStrike">
                <a:solidFill>
                  <a:srgbClr val="1E293B"/>
                </a:solidFill>
                <a:latin typeface="Inter"/>
                <a:ea typeface="Inter"/>
                <a:cs typeface="Inter"/>
                <a:sym typeface="Inter"/>
              </a:rPr>
              <a:t> - Contains `ShapeNetRendering` and `ShapeNetVox32` directories.</a:t>
            </a:r>
            <a:endParaRPr/>
          </a:p>
        </p:txBody>
      </p:sp>
      <p:sp>
        <p:nvSpPr>
          <p:cNvPr id="384" name="Google Shape;384;p38"/>
          <p:cNvSpPr txBox="1"/>
          <p:nvPr/>
        </p:nvSpPr>
        <p:spPr>
          <a:xfrm>
            <a:off x="1714500" y="2445990"/>
            <a:ext cx="9144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weights/</a:t>
            </a:r>
            <a:r>
              <a:rPr b="0" i="0" lang="en-US" sz="1350" u="none" cap="none" strike="noStrike">
                <a:solidFill>
                  <a:srgbClr val="1E293B"/>
                </a:solidFill>
                <a:latin typeface="Inter"/>
                <a:ea typeface="Inter"/>
                <a:cs typeface="Inter"/>
                <a:sym typeface="Inter"/>
              </a:rPr>
              <a:t> - Stores the trained PyTorch state dictionary (`model_latest.pth`).</a:t>
            </a:r>
            <a:endParaRPr/>
          </a:p>
        </p:txBody>
      </p:sp>
      <p:sp>
        <p:nvSpPr>
          <p:cNvPr id="385" name="Google Shape;385;p38"/>
          <p:cNvSpPr txBox="1"/>
          <p:nvPr/>
        </p:nvSpPr>
        <p:spPr>
          <a:xfrm>
            <a:off x="1714500" y="2958405"/>
            <a:ext cx="9144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model.py</a:t>
            </a:r>
            <a:r>
              <a:rPr b="0" i="0" lang="en-US" sz="1350" u="none" cap="none" strike="noStrike">
                <a:solidFill>
                  <a:srgbClr val="1E293B"/>
                </a:solidFill>
                <a:latin typeface="Inter"/>
                <a:ea typeface="Inter"/>
                <a:cs typeface="Inter"/>
                <a:sym typeface="Inter"/>
              </a:rPr>
              <a:t> - Core PyTorch classes: `MultiHeadSelfAttention3D`, `Encoder`, `Decoder`, `Pix2VoxWithMAR`.</a:t>
            </a:r>
            <a:endParaRPr/>
          </a:p>
        </p:txBody>
      </p:sp>
      <p:sp>
        <p:nvSpPr>
          <p:cNvPr id="386" name="Google Shape;386;p38"/>
          <p:cNvSpPr txBox="1"/>
          <p:nvPr/>
        </p:nvSpPr>
        <p:spPr>
          <a:xfrm>
            <a:off x="1714500" y="3470820"/>
            <a:ext cx="9144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train.py</a:t>
            </a:r>
            <a:r>
              <a:rPr b="0" i="0" lang="en-US" sz="1350" u="none" cap="none" strike="noStrike">
                <a:solidFill>
                  <a:srgbClr val="1E293B"/>
                </a:solidFill>
                <a:latin typeface="Inter"/>
                <a:ea typeface="Inter"/>
                <a:cs typeface="Inter"/>
                <a:sym typeface="Inter"/>
              </a:rPr>
              <a:t> - Dataloaders, Adam optimizer logic, and BCE Loss training loops.</a:t>
            </a:r>
            <a:endParaRPr/>
          </a:p>
        </p:txBody>
      </p:sp>
      <p:sp>
        <p:nvSpPr>
          <p:cNvPr id="387" name="Google Shape;387;p38"/>
          <p:cNvSpPr txBox="1"/>
          <p:nvPr/>
        </p:nvSpPr>
        <p:spPr>
          <a:xfrm>
            <a:off x="1714500" y="3983235"/>
            <a:ext cx="9144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app.py</a:t>
            </a:r>
            <a:r>
              <a:rPr b="0" i="0" lang="en-US" sz="1350" u="none" cap="none" strike="noStrike">
                <a:solidFill>
                  <a:srgbClr val="1E293B"/>
                </a:solidFill>
                <a:latin typeface="Inter"/>
                <a:ea typeface="Inter"/>
                <a:cs typeface="Inter"/>
                <a:sym typeface="Inter"/>
              </a:rPr>
              <a:t> - Streamlit interface for uploading views and generating interactive Plotly 3D graphs.</a:t>
            </a:r>
            <a:endParaRPr/>
          </a:p>
        </p:txBody>
      </p:sp>
      <p:pic>
        <p:nvPicPr>
          <p:cNvPr descr="image.png" id="388" name="Google Shape;388;p38"/>
          <p:cNvPicPr preferRelativeResize="0"/>
          <p:nvPr/>
        </p:nvPicPr>
        <p:blipFill rotWithShape="1">
          <a:blip r:embed="rId3">
            <a:alphaModFix/>
          </a:blip>
          <a:srcRect b="0" l="0" r="0" t="0"/>
          <a:stretch/>
        </p:blipFill>
        <p:spPr>
          <a:xfrm>
            <a:off x="1333500" y="1966912"/>
            <a:ext cx="219075" cy="200025"/>
          </a:xfrm>
          <a:prstGeom prst="rect">
            <a:avLst/>
          </a:prstGeom>
          <a:noFill/>
          <a:ln>
            <a:noFill/>
          </a:ln>
        </p:spPr>
      </p:pic>
      <p:pic>
        <p:nvPicPr>
          <p:cNvPr descr="image.png" id="389" name="Google Shape;389;p38"/>
          <p:cNvPicPr preferRelativeResize="0"/>
          <p:nvPr/>
        </p:nvPicPr>
        <p:blipFill rotWithShape="1">
          <a:blip r:embed="rId4">
            <a:alphaModFix/>
          </a:blip>
          <a:srcRect b="0" l="0" r="0" t="0"/>
          <a:stretch/>
        </p:blipFill>
        <p:spPr>
          <a:xfrm>
            <a:off x="1333500" y="2479327"/>
            <a:ext cx="190500" cy="200025"/>
          </a:xfrm>
          <a:prstGeom prst="rect">
            <a:avLst/>
          </a:prstGeom>
          <a:noFill/>
          <a:ln>
            <a:noFill/>
          </a:ln>
        </p:spPr>
      </p:pic>
      <p:pic>
        <p:nvPicPr>
          <p:cNvPr descr="image.png" id="390" name="Google Shape;390;p38"/>
          <p:cNvPicPr preferRelativeResize="0"/>
          <p:nvPr/>
        </p:nvPicPr>
        <p:blipFill rotWithShape="1">
          <a:blip r:embed="rId5">
            <a:alphaModFix/>
          </a:blip>
          <a:srcRect b="0" l="0" r="0" t="0"/>
          <a:stretch/>
        </p:blipFill>
        <p:spPr>
          <a:xfrm>
            <a:off x="1333500" y="2991742"/>
            <a:ext cx="142875" cy="200025"/>
          </a:xfrm>
          <a:prstGeom prst="rect">
            <a:avLst/>
          </a:prstGeom>
          <a:noFill/>
          <a:ln>
            <a:noFill/>
          </a:ln>
        </p:spPr>
      </p:pic>
      <p:pic>
        <p:nvPicPr>
          <p:cNvPr descr="image.png" id="391" name="Google Shape;391;p38"/>
          <p:cNvPicPr preferRelativeResize="0"/>
          <p:nvPr/>
        </p:nvPicPr>
        <p:blipFill rotWithShape="1">
          <a:blip r:embed="rId6">
            <a:alphaModFix/>
          </a:blip>
          <a:srcRect b="0" l="0" r="0" t="0"/>
          <a:stretch/>
        </p:blipFill>
        <p:spPr>
          <a:xfrm>
            <a:off x="1333500" y="3504158"/>
            <a:ext cx="142875" cy="200025"/>
          </a:xfrm>
          <a:prstGeom prst="rect">
            <a:avLst/>
          </a:prstGeom>
          <a:noFill/>
          <a:ln>
            <a:noFill/>
          </a:ln>
        </p:spPr>
      </p:pic>
      <p:pic>
        <p:nvPicPr>
          <p:cNvPr descr="image.png" id="392" name="Google Shape;392;p38"/>
          <p:cNvPicPr preferRelativeResize="0"/>
          <p:nvPr/>
        </p:nvPicPr>
        <p:blipFill rotWithShape="1">
          <a:blip r:embed="rId7">
            <a:alphaModFix/>
          </a:blip>
          <a:srcRect b="0" l="0" r="0" t="0"/>
          <a:stretch/>
        </p:blipFill>
        <p:spPr>
          <a:xfrm>
            <a:off x="1333500" y="4016573"/>
            <a:ext cx="190500" cy="2000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6" name="Shape 396"/>
        <p:cNvGrpSpPr/>
        <p:nvPr/>
      </p:nvGrpSpPr>
      <p:grpSpPr>
        <a:xfrm>
          <a:off x="0" y="0"/>
          <a:ext cx="0" cy="0"/>
          <a:chOff x="0" y="0"/>
          <a:chExt cx="0" cy="0"/>
        </a:xfrm>
      </p:grpSpPr>
      <p:pic>
        <p:nvPicPr>
          <p:cNvPr descr="image.png" id="397" name="Google Shape;397;p39"/>
          <p:cNvPicPr preferRelativeResize="0"/>
          <p:nvPr/>
        </p:nvPicPr>
        <p:blipFill rotWithShape="1">
          <a:blip r:embed="rId3">
            <a:alphaModFix/>
          </a:blip>
          <a:srcRect b="0" l="0" r="0" t="0"/>
          <a:stretch/>
        </p:blipFill>
        <p:spPr>
          <a:xfrm>
            <a:off x="2286000" y="1552575"/>
            <a:ext cx="7620000" cy="3764160"/>
          </a:xfrm>
          <a:prstGeom prst="rect">
            <a:avLst/>
          </a:prstGeom>
          <a:noFill/>
          <a:ln>
            <a:noFill/>
          </a:ln>
        </p:spPr>
      </p:pic>
      <p:sp>
        <p:nvSpPr>
          <p:cNvPr id="398" name="Google Shape;398;p39"/>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Team Contribution</a:t>
            </a:r>
            <a:endParaRPr/>
          </a:p>
        </p:txBody>
      </p:sp>
      <p:pic>
        <p:nvPicPr>
          <p:cNvPr descr="image.png" id="399" name="Google Shape;399;p39"/>
          <p:cNvPicPr preferRelativeResize="0"/>
          <p:nvPr/>
        </p:nvPicPr>
        <p:blipFill rotWithShape="1">
          <a:blip r:embed="rId4">
            <a:alphaModFix/>
          </a:blip>
          <a:srcRect b="0" l="0" r="0" t="0"/>
          <a:stretch/>
        </p:blipFill>
        <p:spPr>
          <a:xfrm>
            <a:off x="5738812" y="1943100"/>
            <a:ext cx="714375" cy="847725"/>
          </a:xfrm>
          <a:prstGeom prst="rect">
            <a:avLst/>
          </a:prstGeom>
          <a:noFill/>
          <a:ln>
            <a:noFill/>
          </a:ln>
        </p:spPr>
      </p:pic>
      <p:sp>
        <p:nvSpPr>
          <p:cNvPr id="400" name="Google Shape;400;p39"/>
          <p:cNvSpPr txBox="1"/>
          <p:nvPr/>
        </p:nvSpPr>
        <p:spPr>
          <a:xfrm>
            <a:off x="4372633" y="3028950"/>
            <a:ext cx="3684000" cy="300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950">
                <a:solidFill>
                  <a:srgbClr val="020617"/>
                </a:solidFill>
                <a:latin typeface="Poppins SemiBold"/>
                <a:ea typeface="Poppins SemiBold"/>
                <a:cs typeface="Poppins SemiBold"/>
                <a:sym typeface="Poppins SemiBold"/>
              </a:rPr>
              <a:t>SAHARSH BHATNAGAR</a:t>
            </a:r>
            <a:endParaRPr/>
          </a:p>
        </p:txBody>
      </p:sp>
      <p:sp>
        <p:nvSpPr>
          <p:cNvPr id="401" name="Google Shape;401;p39"/>
          <p:cNvSpPr txBox="1"/>
          <p:nvPr/>
        </p:nvSpPr>
        <p:spPr>
          <a:xfrm>
            <a:off x="3813900" y="3653300"/>
            <a:ext cx="4695900" cy="955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1E293B"/>
                </a:solidFill>
                <a:latin typeface="Inter"/>
                <a:ea typeface="Inter"/>
                <a:cs typeface="Inter"/>
                <a:sym typeface="Inter"/>
              </a:rPr>
              <a:t>- Literature review and algorithm selection.</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1E293B"/>
                </a:solidFill>
                <a:latin typeface="Inter"/>
                <a:ea typeface="Inter"/>
                <a:cs typeface="Inter"/>
                <a:sym typeface="Inter"/>
              </a:rPr>
              <a:t> - Ported MA-R architecture to local PyTorch environment.</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1E293B"/>
                </a:solidFill>
                <a:latin typeface="Inter"/>
                <a:ea typeface="Inter"/>
                <a:cs typeface="Inter"/>
                <a:sym typeface="Inter"/>
              </a:rPr>
              <a:t> - Engineered training pipeline optimized for 8GB VRAM.</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1E293B"/>
                </a:solidFill>
                <a:latin typeface="Inter"/>
                <a:ea typeface="Inter"/>
                <a:cs typeface="Inter"/>
                <a:sym typeface="Inter"/>
              </a:rPr>
              <a:t> - Built interactive Streamlit UI for live reconstruction.</a:t>
            </a:r>
            <a:endParaRPr/>
          </a:p>
        </p:txBody>
      </p:sp>
      <p:pic>
        <p:nvPicPr>
          <p:cNvPr descr="image.png" id="402" name="Google Shape;402;p39"/>
          <p:cNvPicPr preferRelativeResize="0"/>
          <p:nvPr/>
        </p:nvPicPr>
        <p:blipFill rotWithShape="1">
          <a:blip r:embed="rId5">
            <a:alphaModFix/>
          </a:blip>
          <a:srcRect b="0" l="0" r="0" t="0"/>
          <a:stretch/>
        </p:blipFill>
        <p:spPr>
          <a:xfrm>
            <a:off x="5929312" y="2171700"/>
            <a:ext cx="333375" cy="381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6" name="Shape 406"/>
        <p:cNvGrpSpPr/>
        <p:nvPr/>
      </p:nvGrpSpPr>
      <p:grpSpPr>
        <a:xfrm>
          <a:off x="0" y="0"/>
          <a:ext cx="0" cy="0"/>
          <a:chOff x="0" y="0"/>
          <a:chExt cx="0" cy="0"/>
        </a:xfrm>
      </p:grpSpPr>
      <p:sp>
        <p:nvSpPr>
          <p:cNvPr id="407" name="Google Shape;407;p40"/>
          <p:cNvSpPr txBox="1"/>
          <p:nvPr/>
        </p:nvSpPr>
        <p:spPr>
          <a:xfrm>
            <a:off x="2685573" y="2384077"/>
            <a:ext cx="6820852" cy="8096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4200" u="none" cap="none" strike="noStrike">
                <a:solidFill>
                  <a:srgbClr val="020617"/>
                </a:solidFill>
                <a:latin typeface="Poppins SemiBold"/>
                <a:ea typeface="Poppins SemiBold"/>
                <a:cs typeface="Poppins SemiBold"/>
                <a:sym typeface="Poppins SemiBold"/>
              </a:rPr>
              <a:t>Summary &amp; Conclusion</a:t>
            </a:r>
            <a:endParaRPr/>
          </a:p>
        </p:txBody>
      </p:sp>
      <p:sp>
        <p:nvSpPr>
          <p:cNvPr id="408" name="Google Shape;408;p40"/>
          <p:cNvSpPr txBox="1"/>
          <p:nvPr/>
        </p:nvSpPr>
        <p:spPr>
          <a:xfrm>
            <a:off x="4062412" y="3336577"/>
            <a:ext cx="406717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64748B"/>
                </a:solidFill>
                <a:latin typeface="Inter"/>
                <a:ea typeface="Inter"/>
                <a:cs typeface="Inter"/>
                <a:sym typeface="Inter"/>
              </a:rPr>
              <a:t>Project wrap-up and future directives</a:t>
            </a:r>
            <a:endParaRPr/>
          </a:p>
        </p:txBody>
      </p:sp>
      <p:sp>
        <p:nvSpPr>
          <p:cNvPr id="409" name="Google Shape;409;p40"/>
          <p:cNvSpPr/>
          <p:nvPr/>
        </p:nvSpPr>
        <p:spPr>
          <a:xfrm>
            <a:off x="5715000" y="4130873"/>
            <a:ext cx="762000" cy="5715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41"/>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Summary of Work</a:t>
            </a:r>
            <a:endParaRPr/>
          </a:p>
        </p:txBody>
      </p:sp>
      <p:sp>
        <p:nvSpPr>
          <p:cNvPr id="415" name="Google Shape;415;p41"/>
          <p:cNvSpPr txBox="1"/>
          <p:nvPr/>
        </p:nvSpPr>
        <p:spPr>
          <a:xfrm>
            <a:off x="1714500" y="1933575"/>
            <a:ext cx="9144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Identified Flaw:</a:t>
            </a:r>
            <a:r>
              <a:rPr b="0" i="0" lang="en-US" sz="1350" u="none" cap="none" strike="noStrike">
                <a:solidFill>
                  <a:srgbClr val="1E293B"/>
                </a:solidFill>
                <a:latin typeface="Inter"/>
                <a:ea typeface="Inter"/>
                <a:cs typeface="Inter"/>
                <a:sym typeface="Inter"/>
              </a:rPr>
              <a:t> Found the boundary smoothing flaw in traditional 3D U-Net refiners via literature review.</a:t>
            </a:r>
            <a:endParaRPr/>
          </a:p>
        </p:txBody>
      </p:sp>
      <p:sp>
        <p:nvSpPr>
          <p:cNvPr id="416" name="Google Shape;416;p41"/>
          <p:cNvSpPr txBox="1"/>
          <p:nvPr/>
        </p:nvSpPr>
        <p:spPr>
          <a:xfrm>
            <a:off x="1714500" y="2445990"/>
            <a:ext cx="9144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Integration:</a:t>
            </a:r>
            <a:r>
              <a:rPr b="0" i="0" lang="en-US" sz="1350" u="none" cap="none" strike="noStrike">
                <a:solidFill>
                  <a:srgbClr val="1E293B"/>
                </a:solidFill>
                <a:latin typeface="Inter"/>
                <a:ea typeface="Inter"/>
                <a:cs typeface="Inter"/>
                <a:sym typeface="Inter"/>
              </a:rPr>
              <a:t> Added a Multi-Head Self-Attention mechanism into the bottleneck of the Pix2Vox++ refiner.</a:t>
            </a:r>
            <a:endParaRPr/>
          </a:p>
        </p:txBody>
      </p:sp>
      <p:sp>
        <p:nvSpPr>
          <p:cNvPr id="417" name="Google Shape;417;p41"/>
          <p:cNvSpPr txBox="1"/>
          <p:nvPr/>
        </p:nvSpPr>
        <p:spPr>
          <a:xfrm>
            <a:off x="1714500" y="2958405"/>
            <a:ext cx="9144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Training Constraints:</a:t>
            </a:r>
            <a:r>
              <a:rPr b="0" i="0" lang="en-US" sz="1350" u="none" cap="none" strike="noStrike">
                <a:solidFill>
                  <a:srgbClr val="1E293B"/>
                </a:solidFill>
                <a:latin typeface="Inter"/>
                <a:ea typeface="Inter"/>
                <a:cs typeface="Inter"/>
                <a:sym typeface="Inter"/>
              </a:rPr>
              <a:t> Trained the model on the ShapeNet dataset, managing memory constraints on consumer hardware.</a:t>
            </a:r>
            <a:endParaRPr/>
          </a:p>
        </p:txBody>
      </p:sp>
      <p:sp>
        <p:nvSpPr>
          <p:cNvPr id="418" name="Google Shape;418;p41"/>
          <p:cNvSpPr txBox="1"/>
          <p:nvPr/>
        </p:nvSpPr>
        <p:spPr>
          <a:xfrm>
            <a:off x="1714500" y="3745110"/>
            <a:ext cx="91440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Superior Metrics:</a:t>
            </a:r>
            <a:r>
              <a:rPr b="0" i="0" lang="en-US" sz="1350" u="none" cap="none" strike="noStrike">
                <a:solidFill>
                  <a:srgbClr val="1E293B"/>
                </a:solidFill>
                <a:latin typeface="Inter"/>
                <a:ea typeface="Inter"/>
                <a:cs typeface="Inter"/>
                <a:sym typeface="Inter"/>
              </a:rPr>
              <a:t> Achieved superior IoU (0.730) and F-Score (0.838) on multi-view tasks.</a:t>
            </a:r>
            <a:endParaRPr/>
          </a:p>
        </p:txBody>
      </p:sp>
      <p:sp>
        <p:nvSpPr>
          <p:cNvPr id="419" name="Google Shape;419;p41"/>
          <p:cNvSpPr txBox="1"/>
          <p:nvPr/>
        </p:nvSpPr>
        <p:spPr>
          <a:xfrm>
            <a:off x="1714500" y="4257526"/>
            <a:ext cx="9144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20617"/>
                </a:solidFill>
                <a:latin typeface="Inter SemiBold"/>
                <a:ea typeface="Inter SemiBold"/>
                <a:cs typeface="Inter SemiBold"/>
                <a:sym typeface="Inter SemiBold"/>
              </a:rPr>
              <a:t>Deployment:</a:t>
            </a:r>
            <a:r>
              <a:rPr b="0" i="0" lang="en-US" sz="1350" u="none" cap="none" strike="noStrike">
                <a:solidFill>
                  <a:srgbClr val="1E293B"/>
                </a:solidFill>
                <a:latin typeface="Inter"/>
                <a:ea typeface="Inter"/>
                <a:cs typeface="Inter"/>
                <a:sym typeface="Inter"/>
              </a:rPr>
              <a:t> Deployed an end-to-end interactive UI for immediate visual inference validation.</a:t>
            </a:r>
            <a:endParaRPr/>
          </a:p>
        </p:txBody>
      </p:sp>
      <p:pic>
        <p:nvPicPr>
          <p:cNvPr descr="image.png" id="420" name="Google Shape;420;p41"/>
          <p:cNvPicPr preferRelativeResize="0"/>
          <p:nvPr/>
        </p:nvPicPr>
        <p:blipFill rotWithShape="1">
          <a:blip r:embed="rId3">
            <a:alphaModFix/>
          </a:blip>
          <a:srcRect b="0" l="0" r="0" t="0"/>
          <a:stretch/>
        </p:blipFill>
        <p:spPr>
          <a:xfrm>
            <a:off x="1333500" y="1966912"/>
            <a:ext cx="171450" cy="200025"/>
          </a:xfrm>
          <a:prstGeom prst="rect">
            <a:avLst/>
          </a:prstGeom>
          <a:noFill/>
          <a:ln>
            <a:noFill/>
          </a:ln>
        </p:spPr>
      </p:pic>
      <p:pic>
        <p:nvPicPr>
          <p:cNvPr descr="image.png" id="421" name="Google Shape;421;p41"/>
          <p:cNvPicPr preferRelativeResize="0"/>
          <p:nvPr/>
        </p:nvPicPr>
        <p:blipFill rotWithShape="1">
          <a:blip r:embed="rId3">
            <a:alphaModFix/>
          </a:blip>
          <a:srcRect b="0" l="0" r="0" t="0"/>
          <a:stretch/>
        </p:blipFill>
        <p:spPr>
          <a:xfrm>
            <a:off x="1333500" y="2479327"/>
            <a:ext cx="171450" cy="200025"/>
          </a:xfrm>
          <a:prstGeom prst="rect">
            <a:avLst/>
          </a:prstGeom>
          <a:noFill/>
          <a:ln>
            <a:noFill/>
          </a:ln>
        </p:spPr>
      </p:pic>
      <p:pic>
        <p:nvPicPr>
          <p:cNvPr descr="image.png" id="422" name="Google Shape;422;p41"/>
          <p:cNvPicPr preferRelativeResize="0"/>
          <p:nvPr/>
        </p:nvPicPr>
        <p:blipFill rotWithShape="1">
          <a:blip r:embed="rId3">
            <a:alphaModFix/>
          </a:blip>
          <a:srcRect b="0" l="0" r="0" t="0"/>
          <a:stretch/>
        </p:blipFill>
        <p:spPr>
          <a:xfrm>
            <a:off x="1333500" y="2991742"/>
            <a:ext cx="171450" cy="200025"/>
          </a:xfrm>
          <a:prstGeom prst="rect">
            <a:avLst/>
          </a:prstGeom>
          <a:noFill/>
          <a:ln>
            <a:noFill/>
          </a:ln>
        </p:spPr>
      </p:pic>
      <p:pic>
        <p:nvPicPr>
          <p:cNvPr descr="image.png" id="423" name="Google Shape;423;p41"/>
          <p:cNvPicPr preferRelativeResize="0"/>
          <p:nvPr/>
        </p:nvPicPr>
        <p:blipFill rotWithShape="1">
          <a:blip r:embed="rId3">
            <a:alphaModFix/>
          </a:blip>
          <a:srcRect b="0" l="0" r="0" t="0"/>
          <a:stretch/>
        </p:blipFill>
        <p:spPr>
          <a:xfrm>
            <a:off x="1333500" y="3778448"/>
            <a:ext cx="171450" cy="200025"/>
          </a:xfrm>
          <a:prstGeom prst="rect">
            <a:avLst/>
          </a:prstGeom>
          <a:noFill/>
          <a:ln>
            <a:noFill/>
          </a:ln>
        </p:spPr>
      </p:pic>
      <p:pic>
        <p:nvPicPr>
          <p:cNvPr descr="image.png" id="424" name="Google Shape;424;p41"/>
          <p:cNvPicPr preferRelativeResize="0"/>
          <p:nvPr/>
        </p:nvPicPr>
        <p:blipFill rotWithShape="1">
          <a:blip r:embed="rId3">
            <a:alphaModFix/>
          </a:blip>
          <a:srcRect b="0" l="0" r="0" t="0"/>
          <a:stretch/>
        </p:blipFill>
        <p:spPr>
          <a:xfrm>
            <a:off x="1333500" y="4290863"/>
            <a:ext cx="171450" cy="2000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8" name="Shape 428"/>
        <p:cNvGrpSpPr/>
        <p:nvPr/>
      </p:nvGrpSpPr>
      <p:grpSpPr>
        <a:xfrm>
          <a:off x="0" y="0"/>
          <a:ext cx="0" cy="0"/>
          <a:chOff x="0" y="0"/>
          <a:chExt cx="0" cy="0"/>
        </a:xfrm>
      </p:grpSpPr>
      <p:pic>
        <p:nvPicPr>
          <p:cNvPr descr="image.png" id="429" name="Google Shape;429;p42"/>
          <p:cNvPicPr preferRelativeResize="0"/>
          <p:nvPr/>
        </p:nvPicPr>
        <p:blipFill rotWithShape="1">
          <a:blip r:embed="rId3">
            <a:alphaModFix/>
          </a:blip>
          <a:srcRect b="0" l="0" r="0" t="0"/>
          <a:stretch/>
        </p:blipFill>
        <p:spPr>
          <a:xfrm>
            <a:off x="571500" y="1552575"/>
            <a:ext cx="3492549" cy="3895576"/>
          </a:xfrm>
          <a:prstGeom prst="rect">
            <a:avLst/>
          </a:prstGeom>
          <a:noFill/>
          <a:ln>
            <a:noFill/>
          </a:ln>
        </p:spPr>
      </p:pic>
      <p:pic>
        <p:nvPicPr>
          <p:cNvPr descr="image.png" id="430" name="Google Shape;430;p42"/>
          <p:cNvPicPr preferRelativeResize="0"/>
          <p:nvPr/>
        </p:nvPicPr>
        <p:blipFill rotWithShape="1">
          <a:blip r:embed="rId4">
            <a:alphaModFix/>
          </a:blip>
          <a:srcRect b="0" l="0" r="0" t="0"/>
          <a:stretch/>
        </p:blipFill>
        <p:spPr>
          <a:xfrm>
            <a:off x="4349799" y="1552575"/>
            <a:ext cx="3492549" cy="3895576"/>
          </a:xfrm>
          <a:prstGeom prst="rect">
            <a:avLst/>
          </a:prstGeom>
          <a:noFill/>
          <a:ln>
            <a:noFill/>
          </a:ln>
        </p:spPr>
      </p:pic>
      <p:pic>
        <p:nvPicPr>
          <p:cNvPr descr="image.png" id="431" name="Google Shape;431;p42"/>
          <p:cNvPicPr preferRelativeResize="0"/>
          <p:nvPr/>
        </p:nvPicPr>
        <p:blipFill rotWithShape="1">
          <a:blip r:embed="rId5">
            <a:alphaModFix/>
          </a:blip>
          <a:srcRect b="0" l="0" r="0" t="0"/>
          <a:stretch/>
        </p:blipFill>
        <p:spPr>
          <a:xfrm>
            <a:off x="8128099" y="1552575"/>
            <a:ext cx="3492549" cy="3895576"/>
          </a:xfrm>
          <a:prstGeom prst="rect">
            <a:avLst/>
          </a:prstGeom>
          <a:noFill/>
          <a:ln>
            <a:noFill/>
          </a:ln>
        </p:spPr>
      </p:pic>
      <p:sp>
        <p:nvSpPr>
          <p:cNvPr id="432" name="Google Shape;432;p42"/>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20617"/>
                </a:solidFill>
                <a:latin typeface="Poppins SemiBold"/>
                <a:ea typeface="Poppins SemiBold"/>
                <a:cs typeface="Poppins SemiBold"/>
                <a:sym typeface="Poppins SemiBold"/>
              </a:rPr>
              <a:t>Future Scope</a:t>
            </a:r>
            <a:endParaRPr/>
          </a:p>
        </p:txBody>
      </p:sp>
      <p:pic>
        <p:nvPicPr>
          <p:cNvPr descr="image.png" id="433" name="Google Shape;433;p42"/>
          <p:cNvPicPr preferRelativeResize="0"/>
          <p:nvPr/>
        </p:nvPicPr>
        <p:blipFill rotWithShape="1">
          <a:blip r:embed="rId6">
            <a:alphaModFix/>
          </a:blip>
          <a:srcRect b="0" l="0" r="0" t="0"/>
          <a:stretch/>
        </p:blipFill>
        <p:spPr>
          <a:xfrm>
            <a:off x="1912887" y="1943100"/>
            <a:ext cx="809625" cy="847725"/>
          </a:xfrm>
          <a:prstGeom prst="rect">
            <a:avLst/>
          </a:prstGeom>
          <a:noFill/>
          <a:ln>
            <a:noFill/>
          </a:ln>
        </p:spPr>
      </p:pic>
      <p:sp>
        <p:nvSpPr>
          <p:cNvPr id="434" name="Google Shape;434;p42"/>
          <p:cNvSpPr txBox="1"/>
          <p:nvPr/>
        </p:nvSpPr>
        <p:spPr>
          <a:xfrm>
            <a:off x="1142553" y="3028950"/>
            <a:ext cx="2350293"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950" u="none" cap="none" strike="noStrike">
                <a:solidFill>
                  <a:srgbClr val="020617"/>
                </a:solidFill>
                <a:latin typeface="Poppins SemiBold"/>
                <a:ea typeface="Poppins SemiBold"/>
                <a:cs typeface="Poppins SemiBold"/>
                <a:sym typeface="Poppins SemiBold"/>
              </a:rPr>
              <a:t>Higher Resolution</a:t>
            </a:r>
            <a:endParaRPr/>
          </a:p>
        </p:txBody>
      </p:sp>
      <p:sp>
        <p:nvSpPr>
          <p:cNvPr id="435" name="Google Shape;435;p42"/>
          <p:cNvSpPr txBox="1"/>
          <p:nvPr/>
        </p:nvSpPr>
        <p:spPr>
          <a:xfrm>
            <a:off x="866775" y="3543300"/>
            <a:ext cx="2901999"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1E293B"/>
                </a:solidFill>
                <a:latin typeface="Inter"/>
                <a:ea typeface="Inter"/>
                <a:cs typeface="Inter"/>
                <a:sym typeface="Inter"/>
              </a:rPr>
              <a:t>Scaling the model output from 32³ voxels to 64³ or 128³ using optimized GPU memory techniques to capture microscopic features.</a:t>
            </a:r>
            <a:endParaRPr/>
          </a:p>
        </p:txBody>
      </p:sp>
      <p:pic>
        <p:nvPicPr>
          <p:cNvPr descr="image.png" id="436" name="Google Shape;436;p42"/>
          <p:cNvPicPr preferRelativeResize="0"/>
          <p:nvPr/>
        </p:nvPicPr>
        <p:blipFill rotWithShape="1">
          <a:blip r:embed="rId7">
            <a:alphaModFix/>
          </a:blip>
          <a:srcRect b="0" l="0" r="0" t="0"/>
          <a:stretch/>
        </p:blipFill>
        <p:spPr>
          <a:xfrm>
            <a:off x="5738812" y="1943100"/>
            <a:ext cx="714375" cy="847725"/>
          </a:xfrm>
          <a:prstGeom prst="rect">
            <a:avLst/>
          </a:prstGeom>
          <a:noFill/>
          <a:ln>
            <a:noFill/>
          </a:ln>
        </p:spPr>
      </p:pic>
      <p:sp>
        <p:nvSpPr>
          <p:cNvPr id="437" name="Google Shape;437;p42"/>
          <p:cNvSpPr txBox="1"/>
          <p:nvPr/>
        </p:nvSpPr>
        <p:spPr>
          <a:xfrm>
            <a:off x="4635817" y="3028950"/>
            <a:ext cx="2920365"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950" u="none" cap="none" strike="noStrike">
                <a:solidFill>
                  <a:srgbClr val="020617"/>
                </a:solidFill>
                <a:latin typeface="Poppins SemiBold"/>
                <a:ea typeface="Poppins SemiBold"/>
                <a:cs typeface="Poppins SemiBold"/>
                <a:sym typeface="Poppins SemiBold"/>
              </a:rPr>
              <a:t>Alternative Renderers</a:t>
            </a:r>
            <a:endParaRPr/>
          </a:p>
        </p:txBody>
      </p:sp>
      <p:sp>
        <p:nvSpPr>
          <p:cNvPr id="438" name="Google Shape;438;p42"/>
          <p:cNvSpPr txBox="1"/>
          <p:nvPr/>
        </p:nvSpPr>
        <p:spPr>
          <a:xfrm>
            <a:off x="4645074" y="3543300"/>
            <a:ext cx="2901999"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1E293B"/>
                </a:solidFill>
                <a:latin typeface="Inter"/>
                <a:ea typeface="Inter"/>
                <a:cs typeface="Inter"/>
                <a:sym typeface="Inter"/>
              </a:rPr>
              <a:t>Replacing standard discrete voxels with continuous Tri-Planes, Neural Radiance Fields (NeRFs), or Gaussian Splatting.</a:t>
            </a:r>
            <a:endParaRPr/>
          </a:p>
        </p:txBody>
      </p:sp>
      <p:pic>
        <p:nvPicPr>
          <p:cNvPr descr="image.png" id="439" name="Google Shape;439;p42"/>
          <p:cNvPicPr preferRelativeResize="0"/>
          <p:nvPr/>
        </p:nvPicPr>
        <p:blipFill rotWithShape="1">
          <a:blip r:embed="rId8">
            <a:alphaModFix/>
          </a:blip>
          <a:srcRect b="0" l="0" r="0" t="0"/>
          <a:stretch/>
        </p:blipFill>
        <p:spPr>
          <a:xfrm>
            <a:off x="9517112" y="1943100"/>
            <a:ext cx="714375" cy="847725"/>
          </a:xfrm>
          <a:prstGeom prst="rect">
            <a:avLst/>
          </a:prstGeom>
          <a:noFill/>
          <a:ln>
            <a:noFill/>
          </a:ln>
        </p:spPr>
      </p:pic>
      <p:sp>
        <p:nvSpPr>
          <p:cNvPr id="440" name="Google Shape;440;p42"/>
          <p:cNvSpPr txBox="1"/>
          <p:nvPr/>
        </p:nvSpPr>
        <p:spPr>
          <a:xfrm>
            <a:off x="8519130" y="3028950"/>
            <a:ext cx="2710338"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950" u="none" cap="none" strike="noStrike">
                <a:solidFill>
                  <a:srgbClr val="020617"/>
                </a:solidFill>
                <a:latin typeface="Poppins SemiBold"/>
                <a:ea typeface="Poppins SemiBold"/>
                <a:cs typeface="Poppins SemiBold"/>
                <a:sym typeface="Poppins SemiBold"/>
              </a:rPr>
              <a:t>Real-Time Inference</a:t>
            </a:r>
            <a:endParaRPr/>
          </a:p>
        </p:txBody>
      </p:sp>
      <p:sp>
        <p:nvSpPr>
          <p:cNvPr id="441" name="Google Shape;441;p42"/>
          <p:cNvSpPr txBox="1"/>
          <p:nvPr/>
        </p:nvSpPr>
        <p:spPr>
          <a:xfrm>
            <a:off x="8423374" y="3543300"/>
            <a:ext cx="2901999" cy="137145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1E293B"/>
                </a:solidFill>
                <a:latin typeface="Inter"/>
                <a:ea typeface="Inter"/>
                <a:cs typeface="Inter"/>
                <a:sym typeface="Inter"/>
              </a:rPr>
              <a:t>Optimizing the attention mechanism's computational overhead for real-time edge-device application (e.g., mobile AR).</a:t>
            </a:r>
            <a:endParaRPr/>
          </a:p>
        </p:txBody>
      </p:sp>
      <p:pic>
        <p:nvPicPr>
          <p:cNvPr descr="image.png" id="442" name="Google Shape;442;p42"/>
          <p:cNvPicPr preferRelativeResize="0"/>
          <p:nvPr/>
        </p:nvPicPr>
        <p:blipFill rotWithShape="1">
          <a:blip r:embed="rId9">
            <a:alphaModFix/>
          </a:blip>
          <a:srcRect b="0" l="0" r="0" t="0"/>
          <a:stretch/>
        </p:blipFill>
        <p:spPr>
          <a:xfrm>
            <a:off x="2103387" y="2171700"/>
            <a:ext cx="428625" cy="381000"/>
          </a:xfrm>
          <a:prstGeom prst="rect">
            <a:avLst/>
          </a:prstGeom>
          <a:noFill/>
          <a:ln>
            <a:noFill/>
          </a:ln>
        </p:spPr>
      </p:pic>
      <p:pic>
        <p:nvPicPr>
          <p:cNvPr descr="image.png" id="443" name="Google Shape;443;p42"/>
          <p:cNvPicPr preferRelativeResize="0"/>
          <p:nvPr/>
        </p:nvPicPr>
        <p:blipFill rotWithShape="1">
          <a:blip r:embed="rId10">
            <a:alphaModFix/>
          </a:blip>
          <a:srcRect b="0" l="0" r="0" t="0"/>
          <a:stretch/>
        </p:blipFill>
        <p:spPr>
          <a:xfrm>
            <a:off x="5929312" y="2171700"/>
            <a:ext cx="333375" cy="381000"/>
          </a:xfrm>
          <a:prstGeom prst="rect">
            <a:avLst/>
          </a:prstGeom>
          <a:noFill/>
          <a:ln>
            <a:noFill/>
          </a:ln>
        </p:spPr>
      </p:pic>
      <p:pic>
        <p:nvPicPr>
          <p:cNvPr descr="image.png" id="444" name="Google Shape;444;p42"/>
          <p:cNvPicPr preferRelativeResize="0"/>
          <p:nvPr/>
        </p:nvPicPr>
        <p:blipFill rotWithShape="1">
          <a:blip r:embed="rId11">
            <a:alphaModFix/>
          </a:blip>
          <a:srcRect b="0" l="0" r="0" t="0"/>
          <a:stretch/>
        </p:blipFill>
        <p:spPr>
          <a:xfrm>
            <a:off x="9707612" y="2171700"/>
            <a:ext cx="333375" cy="381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sp>
        <p:nvSpPr>
          <p:cNvPr id="449" name="Google Shape;449;p43"/>
          <p:cNvSpPr txBox="1"/>
          <p:nvPr/>
        </p:nvSpPr>
        <p:spPr>
          <a:xfrm>
            <a:off x="470296" y="1638357"/>
            <a:ext cx="11251500" cy="831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5400" u="none" cap="none" strike="noStrike">
                <a:solidFill>
                  <a:srgbClr val="020617"/>
                </a:solidFill>
                <a:latin typeface="Poppins SemiBold"/>
                <a:ea typeface="Poppins SemiBold"/>
                <a:cs typeface="Poppins SemiBold"/>
                <a:sym typeface="Poppins SemiBold"/>
              </a:rPr>
              <a:t>Conclusion &amp; Q&amp;A</a:t>
            </a:r>
            <a:endParaRPr/>
          </a:p>
        </p:txBody>
      </p:sp>
      <p:sp>
        <p:nvSpPr>
          <p:cNvPr id="450" name="Google Shape;450;p43"/>
          <p:cNvSpPr txBox="1"/>
          <p:nvPr/>
        </p:nvSpPr>
        <p:spPr>
          <a:xfrm>
            <a:off x="738250" y="2964482"/>
            <a:ext cx="10715700" cy="72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1E293B"/>
                </a:solidFill>
                <a:latin typeface="Inter Medium"/>
                <a:ea typeface="Inter Medium"/>
                <a:cs typeface="Inter Medium"/>
                <a:sym typeface="Inter Medium"/>
              </a:rPr>
              <a:t>MA-R successfully balances precision and recall, advancing the robustness of 3D reconstructions.</a:t>
            </a:r>
            <a:endParaRPr/>
          </a:p>
        </p:txBody>
      </p:sp>
      <p:sp>
        <p:nvSpPr>
          <p:cNvPr id="451" name="Google Shape;451;p43"/>
          <p:cNvSpPr txBox="1"/>
          <p:nvPr/>
        </p:nvSpPr>
        <p:spPr>
          <a:xfrm>
            <a:off x="738300" y="3808427"/>
            <a:ext cx="10715700" cy="2079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64748B"/>
                </a:solidFill>
                <a:latin typeface="Inter"/>
                <a:ea typeface="Inter"/>
                <a:cs typeface="Inter"/>
                <a:sym typeface="Inter"/>
              </a:rPr>
              <a:t>Thank you for your attention.</a:t>
            </a:r>
            <a:endParaRPr/>
          </a:p>
        </p:txBody>
      </p:sp>
      <p:pic>
        <p:nvPicPr>
          <p:cNvPr descr="image.png" id="452" name="Google Shape;452;p43"/>
          <p:cNvPicPr preferRelativeResize="0"/>
          <p:nvPr/>
        </p:nvPicPr>
        <p:blipFill rotWithShape="1">
          <a:blip r:embed="rId3">
            <a:alphaModFix/>
          </a:blip>
          <a:srcRect b="0" l="0" r="0" t="0"/>
          <a:stretch/>
        </p:blipFill>
        <p:spPr>
          <a:xfrm>
            <a:off x="4522587" y="4760342"/>
            <a:ext cx="180975" cy="190500"/>
          </a:xfrm>
          <a:prstGeom prst="rect">
            <a:avLst/>
          </a:prstGeom>
          <a:noFill/>
          <a:ln>
            <a:noFill/>
          </a:ln>
        </p:spPr>
      </p:pic>
      <p:sp>
        <p:nvSpPr>
          <p:cNvPr id="453" name="Google Shape;453;p43"/>
          <p:cNvSpPr txBox="1"/>
          <p:nvPr/>
        </p:nvSpPr>
        <p:spPr>
          <a:xfrm>
            <a:off x="3716800" y="4661575"/>
            <a:ext cx="5509500" cy="25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350" u="sng">
                <a:solidFill>
                  <a:schemeClr val="hlink"/>
                </a:solidFill>
                <a:latin typeface="Calibri"/>
                <a:ea typeface="Calibri"/>
                <a:cs typeface="Calibri"/>
                <a:sym typeface="Calibri"/>
                <a:hlinkClick r:id="rId4"/>
              </a:rPr>
              <a:t>github.com/SaharshBhatnagar/MA-Refiner-3D</a:t>
            </a:r>
            <a:endParaRPr sz="13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